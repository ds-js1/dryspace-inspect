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sentences: this is the app that replaces the paper Site Inspection Form. Today is about what it does, how to install it, and the handful of habits that keep the data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before the product. Every one of these three cost us money or evidence at least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v4 form is in there — nothing was dropped to make it fit a screen, including every conditional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are the reasons it works in a basement. Autosave and offline are the two to stress with the field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upload is the headline; everything else follows from it. Sign-in exists because upload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per device,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Safari on iOS is not optional — Chrome cannot install it. Finish by opening from the icon while still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the assessment team does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qualification call is the moment to load the job up — there is signal at a desk and floor plans are usually to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team through this order. The two non-negotiables are Section 03A and checking the photos before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is quiet on purpose. Turn Highlight gaps on only when reviewing before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partners: the quote is now built from a schedule, not from a paragraph of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camera-roll second copy and the location detail are the two reasons for the Camera app rule. HEIC only bites on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connection” in a basement is normal. “Need attention” means try again, and tell the office if it repeats — before deleting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out loud rather than letting people discover them. None of them block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asks. Everything else is in the written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3000" y="952500"/>
            <a:ext cx="4381500" cy="1324124"/>
          </a:xfrm>
          <a:prstGeom prst="rect">
            <a:avLst/>
          </a:prstGeom>
        </p:spPr>
      </p:pic>
      <p:sp>
        <p:nvSpPr>
          <p:cNvPr id="3" name="Text 0"/>
          <p:cNvSpPr/>
          <p:nvPr/>
        </p:nvSpPr>
        <p:spPr>
          <a:xfrm>
            <a:off x="1143000" y="4129385"/>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SETUP &amp; USER GUIDE</a:t>
            </a:r>
            <a:endParaRPr lang="en-US" sz="1800" dirty="0"/>
          </a:p>
        </p:txBody>
      </p:sp>
      <p:sp>
        <p:nvSpPr>
          <p:cNvPr id="4" name="Text 1"/>
          <p:cNvSpPr/>
          <p:nvPr/>
        </p:nvSpPr>
        <p:spPr>
          <a:xfrm>
            <a:off x="1143000" y="4750296"/>
            <a:ext cx="15130329" cy="1232446"/>
          </a:xfrm>
          <a:prstGeom prst="rect">
            <a:avLst/>
          </a:prstGeom>
          <a:noFill/>
          <a:ln/>
        </p:spPr>
        <p:txBody>
          <a:bodyPr wrap="square" lIns="25400" tIns="25400" rIns="25400" bIns="25400" rtlCol="0" anchor="t">
            <a:normAutofit/>
          </a:bodyPr>
          <a:lstStyle/>
          <a:p>
            <a:pPr algn="l" indent="0" marL="0">
              <a:lnSpc>
                <a:spcPct val="83046"/>
              </a:lnSpc>
              <a:buNone/>
            </a:pPr>
            <a:r>
              <a:rPr lang="en-US" sz="9900" b="1" spc="-198" kern="0" dirty="0">
                <a:solidFill>
                  <a:srgbClr val="201E1D"/>
                </a:solidFill>
                <a:latin typeface="Arial" pitchFamily="34" charset="0"/>
                <a:ea typeface="Arial" pitchFamily="34" charset="-122"/>
                <a:cs typeface="Arial" pitchFamily="34" charset="-120"/>
              </a:rPr>
              <a:t>Site Inspection App</a:t>
            </a:r>
            <a:endParaRPr lang="en-US" sz="9900" dirty="0"/>
          </a:p>
        </p:txBody>
      </p:sp>
      <p:sp>
        <p:nvSpPr>
          <p:cNvPr id="5" name="Text 2"/>
          <p:cNvSpPr/>
          <p:nvPr/>
        </p:nvSpPr>
        <p:spPr>
          <a:xfrm>
            <a:off x="1143000" y="6211342"/>
            <a:ext cx="7763982" cy="1085850"/>
          </a:xfrm>
          <a:prstGeom prst="rect">
            <a:avLst/>
          </a:prstGeom>
          <a:noFill/>
          <a:ln/>
        </p:spPr>
        <p:txBody>
          <a:bodyPr wrap="square" lIns="25400" tIns="25400" rIns="25400" bIns="25400" rtlCol="0" anchor="t">
            <a:normAutofit/>
          </a:bodyPr>
          <a:lstStyle/>
          <a:p>
            <a:pPr algn="l" indent="0" marL="0">
              <a:lnSpc>
                <a:spcPct val="110000"/>
              </a:lnSpc>
              <a:buNone/>
            </a:pPr>
            <a:r>
              <a:rPr lang="en-US" sz="3300" dirty="0">
                <a:solidFill>
                  <a:srgbClr val="444141"/>
                </a:solidFill>
                <a:latin typeface="Arial" pitchFamily="34" charset="0"/>
                <a:ea typeface="Arial" pitchFamily="34" charset="-122"/>
                <a:cs typeface="Arial" pitchFamily="34" charset="-120"/>
              </a:rPr>
              <a:t>The v4 form, offline, on the iPad you already carry.</a:t>
            </a:r>
            <a:endParaRPr lang="en-US" sz="3300" dirty="0"/>
          </a:p>
        </p:txBody>
      </p:sp>
      <p:sp>
        <p:nvSpPr>
          <p:cNvPr id="6" name="Text 3"/>
          <p:cNvSpPr/>
          <p:nvPr/>
        </p:nvSpPr>
        <p:spPr>
          <a:xfrm>
            <a:off x="1143000" y="9111704"/>
            <a:ext cx="4327535" cy="451396"/>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605D5D"/>
                </a:solidFill>
                <a:latin typeface="Arial" pitchFamily="34" charset="0"/>
                <a:ea typeface="Arial" pitchFamily="34" charset="-122"/>
                <a:cs typeface="Arial" pitchFamily="34" charset="-120"/>
              </a:rPr>
              <a:t>App v1.3 · Form 4.2 · Project 2.1</a:t>
            </a:r>
            <a:endParaRPr lang="en-US" sz="2100" dirty="0"/>
          </a:p>
        </p:txBody>
      </p:sp>
      <p:sp>
        <p:nvSpPr>
          <p:cNvPr id="7" name="Text 4"/>
          <p:cNvSpPr/>
          <p:nvPr/>
        </p:nvSpPr>
        <p:spPr>
          <a:xfrm>
            <a:off x="5686723" y="9111704"/>
            <a:ext cx="4610755" cy="451396"/>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605D5D"/>
                </a:solidFill>
                <a:latin typeface="Arial" pitchFamily="34" charset="0"/>
                <a:ea typeface="Arial" pitchFamily="34" charset="-122"/>
                <a:cs typeface="Arial" pitchFamily="34" charset="-120"/>
              </a:rPr>
              <a:t>ds-js1.github.io/dryspace-inspect</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THE PROBLEM IT SOLVES</a:t>
            </a:r>
            <a:endParaRPr lang="en-US" sz="1800" dirty="0"/>
          </a:p>
        </p:txBody>
      </p:sp>
      <p:sp>
        <p:nvSpPr>
          <p:cNvPr id="3" name="Text 1"/>
          <p:cNvSpPr/>
          <p:nvPr/>
        </p:nvSpPr>
        <p:spPr>
          <a:xfrm>
            <a:off x="1143000" y="1573411"/>
            <a:ext cx="9536653"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Why the app exists</a:t>
            </a:r>
            <a:endParaRPr lang="en-US" sz="4800" dirty="0"/>
          </a:p>
        </p:txBody>
      </p:sp>
      <p:sp>
        <p:nvSpPr>
          <p:cNvPr id="4" name="Text 2"/>
          <p:cNvSpPr/>
          <p:nvPr/>
        </p:nvSpPr>
        <p:spPr>
          <a:xfrm>
            <a:off x="1143000" y="2708672"/>
            <a:ext cx="4970678" cy="1001911"/>
          </a:xfrm>
          <a:prstGeom prst="rect">
            <a:avLst/>
          </a:prstGeom>
          <a:noFill/>
          <a:ln/>
        </p:spPr>
        <p:txBody>
          <a:bodyPr wrap="square" lIns="25400" tIns="25400" rIns="25400" bIns="25400" rtlCol="0" anchor="t">
            <a:normAutofit/>
          </a:bodyPr>
          <a:lstStyle/>
          <a:p>
            <a:pPr algn="l" indent="0" marL="0">
              <a:lnSpc>
                <a:spcPct val="101200"/>
              </a:lnSpc>
              <a:buNone/>
            </a:pPr>
            <a:r>
              <a:rPr lang="en-US" sz="3300" dirty="0">
                <a:solidFill>
                  <a:srgbClr val="201E1D"/>
                </a:solidFill>
                <a:latin typeface="Arial" pitchFamily="34" charset="0"/>
                <a:ea typeface="Arial" pitchFamily="34" charset="-122"/>
                <a:cs typeface="Arial" pitchFamily="34" charset="-120"/>
              </a:rPr>
              <a:t>Assessments were written twice</a:t>
            </a:r>
            <a:endParaRPr lang="en-US" sz="3300" dirty="0"/>
          </a:p>
        </p:txBody>
      </p:sp>
      <p:sp>
        <p:nvSpPr>
          <p:cNvPr id="5" name="Text 3"/>
          <p:cNvSpPr/>
          <p:nvPr/>
        </p:nvSpPr>
        <p:spPr>
          <a:xfrm>
            <a:off x="1143000" y="3862983"/>
            <a:ext cx="4970678" cy="1198066"/>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44141"/>
                </a:solidFill>
                <a:latin typeface="Arial" pitchFamily="34" charset="0"/>
                <a:ea typeface="Arial" pitchFamily="34" charset="-122"/>
                <a:cs typeface="Arial" pitchFamily="34" charset="-120"/>
              </a:rPr>
              <a:t>On paper on site, then typed up at a desk — with the second version arriving days later.</a:t>
            </a:r>
            <a:endParaRPr lang="en-US" sz="2100" dirty="0"/>
          </a:p>
        </p:txBody>
      </p:sp>
      <p:sp>
        <p:nvSpPr>
          <p:cNvPr id="6" name="Text 4"/>
          <p:cNvSpPr/>
          <p:nvPr/>
        </p:nvSpPr>
        <p:spPr>
          <a:xfrm>
            <a:off x="6730901" y="2708672"/>
            <a:ext cx="4970831" cy="1001911"/>
          </a:xfrm>
          <a:prstGeom prst="rect">
            <a:avLst/>
          </a:prstGeom>
          <a:noFill/>
          <a:ln/>
        </p:spPr>
        <p:txBody>
          <a:bodyPr wrap="square" lIns="25400" tIns="25400" rIns="25400" bIns="25400" rtlCol="0" anchor="t">
            <a:normAutofit/>
          </a:bodyPr>
          <a:lstStyle/>
          <a:p>
            <a:pPr algn="l" indent="0" marL="0">
              <a:lnSpc>
                <a:spcPct val="101200"/>
              </a:lnSpc>
              <a:buNone/>
            </a:pPr>
            <a:r>
              <a:rPr lang="en-US" sz="3300" dirty="0">
                <a:solidFill>
                  <a:srgbClr val="201E1D"/>
                </a:solidFill>
                <a:latin typeface="Arial" pitchFamily="34" charset="0"/>
                <a:ea typeface="Arial" pitchFamily="34" charset="-122"/>
                <a:cs typeface="Arial" pitchFamily="34" charset="-120"/>
              </a:rPr>
              <a:t>Photos lived on one device</a:t>
            </a:r>
            <a:endParaRPr lang="en-US" sz="3300" dirty="0"/>
          </a:p>
        </p:txBody>
      </p:sp>
      <p:sp>
        <p:nvSpPr>
          <p:cNvPr id="7" name="Text 5"/>
          <p:cNvSpPr/>
          <p:nvPr/>
        </p:nvSpPr>
        <p:spPr>
          <a:xfrm>
            <a:off x="6730901" y="3862983"/>
            <a:ext cx="4970831" cy="1198066"/>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44141"/>
                </a:solidFill>
                <a:latin typeface="Arial" pitchFamily="34" charset="0"/>
                <a:ea typeface="Arial" pitchFamily="34" charset="-122"/>
                <a:cs typeface="Arial" pitchFamily="34" charset="-120"/>
              </a:rPr>
              <a:t>Full-quality originals were gone the moment a phone was wiped or an inspection deleted.</a:t>
            </a:r>
            <a:endParaRPr lang="en-US" sz="2100" dirty="0"/>
          </a:p>
        </p:txBody>
      </p:sp>
      <p:sp>
        <p:nvSpPr>
          <p:cNvPr id="8" name="Text 6"/>
          <p:cNvSpPr/>
          <p:nvPr/>
        </p:nvSpPr>
        <p:spPr>
          <a:xfrm>
            <a:off x="12318950" y="2708672"/>
            <a:ext cx="4970678" cy="1001911"/>
          </a:xfrm>
          <a:prstGeom prst="rect">
            <a:avLst/>
          </a:prstGeom>
          <a:noFill/>
          <a:ln/>
        </p:spPr>
        <p:txBody>
          <a:bodyPr wrap="square" lIns="25400" tIns="25400" rIns="25400" bIns="25400" rtlCol="0" anchor="t">
            <a:normAutofit/>
          </a:bodyPr>
          <a:lstStyle/>
          <a:p>
            <a:pPr algn="l" indent="0" marL="0">
              <a:lnSpc>
                <a:spcPct val="101200"/>
              </a:lnSpc>
              <a:buNone/>
            </a:pPr>
            <a:r>
              <a:rPr lang="en-US" sz="3300" dirty="0">
                <a:solidFill>
                  <a:srgbClr val="201E1D"/>
                </a:solidFill>
                <a:latin typeface="Arial" pitchFamily="34" charset="0"/>
                <a:ea typeface="Arial" pitchFamily="34" charset="-122"/>
                <a:cs typeface="Arial" pitchFamily="34" charset="-120"/>
              </a:rPr>
              <a:t>Measurements arrived as prose</a:t>
            </a:r>
            <a:endParaRPr lang="en-US" sz="3300" dirty="0"/>
          </a:p>
        </p:txBody>
      </p:sp>
      <p:sp>
        <p:nvSpPr>
          <p:cNvPr id="9" name="Text 7"/>
          <p:cNvSpPr/>
          <p:nvPr/>
        </p:nvSpPr>
        <p:spPr>
          <a:xfrm>
            <a:off x="12318950" y="3862983"/>
            <a:ext cx="4970678" cy="1198066"/>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44141"/>
                </a:solidFill>
                <a:latin typeface="Arial" pitchFamily="34" charset="0"/>
                <a:ea typeface="Arial" pitchFamily="34" charset="-122"/>
                <a:cs typeface="Arial" pitchFamily="34" charset="-120"/>
              </a:rPr>
              <a:t>Pricing had to interpret a paragraph instead of reading a schedule of wall faces.</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PART A</a:t>
            </a:r>
            <a:endParaRPr lang="en-US" sz="1800" dirty="0"/>
          </a:p>
        </p:txBody>
      </p:sp>
      <p:sp>
        <p:nvSpPr>
          <p:cNvPr id="3" name="Text 1"/>
          <p:cNvSpPr/>
          <p:nvPr/>
        </p:nvSpPr>
        <p:spPr>
          <a:xfrm>
            <a:off x="1143000" y="1573411"/>
            <a:ext cx="9536653"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What has been built</a:t>
            </a:r>
            <a:endParaRPr lang="en-US" sz="4800" dirty="0"/>
          </a:p>
        </p:txBody>
      </p:sp>
      <p:sp>
        <p:nvSpPr>
          <p:cNvPr id="4" name="Shape 2"/>
          <p:cNvSpPr/>
          <p:nvPr/>
        </p:nvSpPr>
        <p:spPr>
          <a:xfrm>
            <a:off x="971550" y="2537222"/>
            <a:ext cx="1762274" cy="1628775"/>
          </a:xfrm>
          <a:prstGeom prst="rect">
            <a:avLst/>
          </a:prstGeom>
          <a:solidFill>
            <a:srgbClr val="F3F2F2"/>
          </a:solidFill>
          <a:ln/>
        </p:spPr>
      </p:sp>
      <p:sp>
        <p:nvSpPr>
          <p:cNvPr id="5" name="Text 3"/>
          <p:cNvSpPr/>
          <p:nvPr/>
        </p:nvSpPr>
        <p:spPr>
          <a:xfrm>
            <a:off x="1143000" y="2375297"/>
            <a:ext cx="1561311" cy="1990725"/>
          </a:xfrm>
          <a:prstGeom prst="rect">
            <a:avLst/>
          </a:prstGeom>
          <a:noFill/>
          <a:ln/>
          <a:effectLst>
            <a:outerShdw sx="100000" sy="100000" kx="0" ky="0" algn="bl" rotWithShape="0" blurRad="101600" dist="62621" dir="2100000">
              <a:srgbClr val="F3F2F2">
                <a:alpha val="100000"/>
              </a:srgbClr>
            </a:outerShdw>
          </a:effectLst>
        </p:spPr>
        <p:txBody>
          <a:bodyPr wrap="square" lIns="25400" tIns="25400" rIns="25400" bIns="25400" rtlCol="0" anchor="t">
            <a:normAutofit/>
          </a:bodyPr>
          <a:lstStyle/>
          <a:p>
            <a:pPr algn="l" indent="0" marL="0">
              <a:lnSpc>
                <a:spcPct val="78035"/>
              </a:lnSpc>
              <a:buNone/>
            </a:pPr>
            <a:r>
              <a:rPr lang="en-US" sz="11250" b="1" dirty="0">
                <a:solidFill>
                  <a:srgbClr val="F3F2F2"/>
                </a:solidFill>
                <a:latin typeface="Arial" pitchFamily="34" charset="0"/>
                <a:ea typeface="Arial" pitchFamily="34" charset="-122"/>
                <a:cs typeface="Arial" pitchFamily="34" charset="-120"/>
              </a:rPr>
              <a:t>13</a:t>
            </a:r>
            <a:endParaRPr lang="en-US" sz="11250" dirty="0"/>
          </a:p>
        </p:txBody>
      </p:sp>
      <p:sp>
        <p:nvSpPr>
          <p:cNvPr id="6" name="Text 4"/>
          <p:cNvSpPr/>
          <p:nvPr/>
        </p:nvSpPr>
        <p:spPr>
          <a:xfrm>
            <a:off x="1143000" y="2708672"/>
            <a:ext cx="1561311"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dirty="0">
                <a:solidFill>
                  <a:srgbClr val="0088B0"/>
                </a:solidFill>
                <a:latin typeface="Arial" pitchFamily="34" charset="0"/>
                <a:ea typeface="Arial" pitchFamily="34" charset="-122"/>
                <a:cs typeface="Arial" pitchFamily="34" charset="-120"/>
              </a:rPr>
              <a:t>13</a:t>
            </a:r>
            <a:endParaRPr lang="en-US" sz="11250" dirty="0"/>
          </a:p>
        </p:txBody>
      </p:sp>
      <p:sp>
        <p:nvSpPr>
          <p:cNvPr id="7" name="Text 5"/>
          <p:cNvSpPr/>
          <p:nvPr/>
        </p:nvSpPr>
        <p:spPr>
          <a:xfrm>
            <a:off x="1194435" y="2744391"/>
            <a:ext cx="1561311"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dirty="0">
                <a:solidFill>
                  <a:srgbClr val="D6006C"/>
                </a:solidFill>
                <a:latin typeface="Arial" pitchFamily="34" charset="0"/>
                <a:ea typeface="Arial" pitchFamily="34" charset="-122"/>
                <a:cs typeface="Arial" pitchFamily="34" charset="-120"/>
              </a:rPr>
              <a:t>13</a:t>
            </a:r>
            <a:endParaRPr lang="en-US" sz="11250" dirty="0"/>
          </a:p>
        </p:txBody>
      </p:sp>
      <p:sp>
        <p:nvSpPr>
          <p:cNvPr id="8" name="Text 6"/>
          <p:cNvSpPr/>
          <p:nvPr/>
        </p:nvSpPr>
        <p:spPr>
          <a:xfrm>
            <a:off x="1098709" y="2675811"/>
            <a:ext cx="1561311"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dirty="0">
                <a:solidFill>
                  <a:srgbClr val="EDBB00"/>
                </a:solidFill>
                <a:latin typeface="Arial" pitchFamily="34" charset="0"/>
                <a:ea typeface="Arial" pitchFamily="34" charset="-122"/>
                <a:cs typeface="Arial" pitchFamily="34" charset="-120"/>
              </a:rPr>
              <a:t>13</a:t>
            </a:r>
            <a:endParaRPr lang="en-US" sz="11250" dirty="0"/>
          </a:p>
        </p:txBody>
      </p:sp>
      <p:sp>
        <p:nvSpPr>
          <p:cNvPr id="9" name="Text 7"/>
          <p:cNvSpPr/>
          <p:nvPr/>
        </p:nvSpPr>
        <p:spPr>
          <a:xfrm>
            <a:off x="1143000" y="4223147"/>
            <a:ext cx="4970678"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sections, every dynamic reveal preserved</a:t>
            </a:r>
            <a:endParaRPr lang="en-US" sz="2100" dirty="0"/>
          </a:p>
        </p:txBody>
      </p:sp>
      <p:sp>
        <p:nvSpPr>
          <p:cNvPr id="10" name="Shape 8"/>
          <p:cNvSpPr/>
          <p:nvPr/>
        </p:nvSpPr>
        <p:spPr>
          <a:xfrm>
            <a:off x="6559451" y="2537222"/>
            <a:ext cx="2533650" cy="1628775"/>
          </a:xfrm>
          <a:prstGeom prst="rect">
            <a:avLst/>
          </a:prstGeom>
          <a:solidFill>
            <a:srgbClr val="F3F2F2"/>
          </a:solidFill>
          <a:ln/>
        </p:spPr>
      </p:sp>
      <p:sp>
        <p:nvSpPr>
          <p:cNvPr id="11" name="Text 9"/>
          <p:cNvSpPr/>
          <p:nvPr/>
        </p:nvSpPr>
        <p:spPr>
          <a:xfrm>
            <a:off x="6730901" y="2375297"/>
            <a:ext cx="2409825" cy="1990725"/>
          </a:xfrm>
          <a:prstGeom prst="rect">
            <a:avLst/>
          </a:prstGeom>
          <a:noFill/>
          <a:ln/>
          <a:effectLst>
            <a:outerShdw sx="100000" sy="100000" kx="0" ky="0" algn="bl" rotWithShape="0" blurRad="101600" dist="62621" dir="2100000">
              <a:srgbClr val="F3F2F2">
                <a:alpha val="100000"/>
              </a:srgbClr>
            </a:outerShdw>
          </a:effectLst>
        </p:spPr>
        <p:txBody>
          <a:bodyPr wrap="square" lIns="25400" tIns="25400" rIns="25400" bIns="25400" rtlCol="0" anchor="t">
            <a:normAutofit/>
          </a:bodyPr>
          <a:lstStyle/>
          <a:p>
            <a:pPr algn="l" indent="0" marL="0">
              <a:lnSpc>
                <a:spcPct val="78035"/>
              </a:lnSpc>
              <a:buNone/>
            </a:pPr>
            <a:r>
              <a:rPr lang="en-US" sz="11250" b="1" dirty="0">
                <a:solidFill>
                  <a:srgbClr val="F3F2F2"/>
                </a:solidFill>
                <a:latin typeface="Arial" pitchFamily="34" charset="0"/>
                <a:ea typeface="Arial" pitchFamily="34" charset="-122"/>
                <a:cs typeface="Arial" pitchFamily="34" charset="-120"/>
              </a:rPr>
              <a:t>154</a:t>
            </a:r>
            <a:endParaRPr lang="en-US" sz="11250" dirty="0"/>
          </a:p>
        </p:txBody>
      </p:sp>
      <p:sp>
        <p:nvSpPr>
          <p:cNvPr id="12" name="Text 10"/>
          <p:cNvSpPr/>
          <p:nvPr/>
        </p:nvSpPr>
        <p:spPr>
          <a:xfrm>
            <a:off x="6730901" y="2708672"/>
            <a:ext cx="2409825"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dirty="0">
                <a:solidFill>
                  <a:srgbClr val="0088B0"/>
                </a:solidFill>
                <a:latin typeface="Arial" pitchFamily="34" charset="0"/>
                <a:ea typeface="Arial" pitchFamily="34" charset="-122"/>
                <a:cs typeface="Arial" pitchFamily="34" charset="-120"/>
              </a:rPr>
              <a:t>154</a:t>
            </a:r>
            <a:endParaRPr lang="en-US" sz="11250" dirty="0"/>
          </a:p>
        </p:txBody>
      </p:sp>
      <p:sp>
        <p:nvSpPr>
          <p:cNvPr id="13" name="Text 11"/>
          <p:cNvSpPr/>
          <p:nvPr/>
        </p:nvSpPr>
        <p:spPr>
          <a:xfrm>
            <a:off x="6782336" y="2744391"/>
            <a:ext cx="2409825"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dirty="0">
                <a:solidFill>
                  <a:srgbClr val="D6006C"/>
                </a:solidFill>
                <a:latin typeface="Arial" pitchFamily="34" charset="0"/>
                <a:ea typeface="Arial" pitchFamily="34" charset="-122"/>
                <a:cs typeface="Arial" pitchFamily="34" charset="-120"/>
              </a:rPr>
              <a:t>154</a:t>
            </a:r>
            <a:endParaRPr lang="en-US" sz="11250" dirty="0"/>
          </a:p>
        </p:txBody>
      </p:sp>
      <p:sp>
        <p:nvSpPr>
          <p:cNvPr id="14" name="Text 12"/>
          <p:cNvSpPr/>
          <p:nvPr/>
        </p:nvSpPr>
        <p:spPr>
          <a:xfrm>
            <a:off x="6686609" y="2675811"/>
            <a:ext cx="2409825"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dirty="0">
                <a:solidFill>
                  <a:srgbClr val="EDBB00"/>
                </a:solidFill>
                <a:latin typeface="Arial" pitchFamily="34" charset="0"/>
                <a:ea typeface="Arial" pitchFamily="34" charset="-122"/>
                <a:cs typeface="Arial" pitchFamily="34" charset="-120"/>
              </a:rPr>
              <a:t>154</a:t>
            </a:r>
            <a:endParaRPr lang="en-US" sz="11250" dirty="0"/>
          </a:p>
        </p:txBody>
      </p:sp>
      <p:sp>
        <p:nvSpPr>
          <p:cNvPr id="15" name="Text 13"/>
          <p:cNvSpPr/>
          <p:nvPr/>
        </p:nvSpPr>
        <p:spPr>
          <a:xfrm>
            <a:off x="6730901" y="4223147"/>
            <a:ext cx="4970831"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labelled fields, each with its own reference number</a:t>
            </a:r>
            <a:endParaRPr lang="en-US" sz="2100" dirty="0"/>
          </a:p>
        </p:txBody>
      </p:sp>
      <p:sp>
        <p:nvSpPr>
          <p:cNvPr id="16" name="Shape 14"/>
          <p:cNvSpPr/>
          <p:nvPr/>
        </p:nvSpPr>
        <p:spPr>
          <a:xfrm>
            <a:off x="12147500" y="2537222"/>
            <a:ext cx="2778175" cy="1628775"/>
          </a:xfrm>
          <a:prstGeom prst="rect">
            <a:avLst/>
          </a:prstGeom>
          <a:solidFill>
            <a:srgbClr val="F3F2F2"/>
          </a:solidFill>
          <a:ln/>
        </p:spPr>
      </p:sp>
      <p:sp>
        <p:nvSpPr>
          <p:cNvPr id="17" name="Text 15"/>
          <p:cNvSpPr/>
          <p:nvPr/>
        </p:nvSpPr>
        <p:spPr>
          <a:xfrm>
            <a:off x="12318950" y="2375297"/>
            <a:ext cx="2678802" cy="1990725"/>
          </a:xfrm>
          <a:prstGeom prst="rect">
            <a:avLst/>
          </a:prstGeom>
          <a:noFill/>
          <a:ln/>
          <a:effectLst>
            <a:outerShdw sx="100000" sy="100000" kx="0" ky="0" algn="bl" rotWithShape="0" blurRad="101600" dist="62621" dir="2100000">
              <a:srgbClr val="F3F2F2">
                <a:alpha val="100000"/>
              </a:srgbClr>
            </a:outerShdw>
          </a:effectLst>
        </p:spPr>
        <p:txBody>
          <a:bodyPr wrap="square" lIns="25400" tIns="25400" rIns="25400" bIns="25400" rtlCol="0" anchor="t">
            <a:normAutofit/>
          </a:bodyPr>
          <a:lstStyle/>
          <a:p>
            <a:pPr algn="l" indent="0" marL="0">
              <a:lnSpc>
                <a:spcPct val="78035"/>
              </a:lnSpc>
              <a:buNone/>
            </a:pPr>
            <a:r>
              <a:rPr lang="en-US" sz="11250" b="1" dirty="0">
                <a:solidFill>
                  <a:srgbClr val="F3F2F2"/>
                </a:solidFill>
                <a:latin typeface="Arial" pitchFamily="34" charset="0"/>
                <a:ea typeface="Arial" pitchFamily="34" charset="-122"/>
                <a:cs typeface="Arial" pitchFamily="34" charset="-120"/>
              </a:rPr>
              <a:t>400</a:t>
            </a:r>
            <a:endParaRPr lang="en-US" sz="11250" dirty="0"/>
          </a:p>
        </p:txBody>
      </p:sp>
      <p:sp>
        <p:nvSpPr>
          <p:cNvPr id="18" name="Text 16"/>
          <p:cNvSpPr/>
          <p:nvPr/>
        </p:nvSpPr>
        <p:spPr>
          <a:xfrm>
            <a:off x="12318950" y="2708672"/>
            <a:ext cx="2678802"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dirty="0">
                <a:solidFill>
                  <a:srgbClr val="0088B0"/>
                </a:solidFill>
                <a:latin typeface="Arial" pitchFamily="34" charset="0"/>
                <a:ea typeface="Arial" pitchFamily="34" charset="-122"/>
                <a:cs typeface="Arial" pitchFamily="34" charset="-120"/>
              </a:rPr>
              <a:t>400</a:t>
            </a:r>
            <a:endParaRPr lang="en-US" sz="11250" dirty="0"/>
          </a:p>
        </p:txBody>
      </p:sp>
      <p:sp>
        <p:nvSpPr>
          <p:cNvPr id="19" name="Text 17"/>
          <p:cNvSpPr/>
          <p:nvPr/>
        </p:nvSpPr>
        <p:spPr>
          <a:xfrm>
            <a:off x="12370386" y="2744391"/>
            <a:ext cx="2678802"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dirty="0">
                <a:solidFill>
                  <a:srgbClr val="D6006C"/>
                </a:solidFill>
                <a:latin typeface="Arial" pitchFamily="34" charset="0"/>
                <a:ea typeface="Arial" pitchFamily="34" charset="-122"/>
                <a:cs typeface="Arial" pitchFamily="34" charset="-120"/>
              </a:rPr>
              <a:t>400</a:t>
            </a:r>
            <a:endParaRPr lang="en-US" sz="11250" dirty="0"/>
          </a:p>
        </p:txBody>
      </p:sp>
      <p:sp>
        <p:nvSpPr>
          <p:cNvPr id="20" name="Text 18"/>
          <p:cNvSpPr/>
          <p:nvPr/>
        </p:nvSpPr>
        <p:spPr>
          <a:xfrm>
            <a:off x="12274659" y="2675811"/>
            <a:ext cx="2678802"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dirty="0">
                <a:solidFill>
                  <a:srgbClr val="EDBB00"/>
                </a:solidFill>
                <a:latin typeface="Arial" pitchFamily="34" charset="0"/>
                <a:ea typeface="Arial" pitchFamily="34" charset="-122"/>
                <a:cs typeface="Arial" pitchFamily="34" charset="-120"/>
              </a:rPr>
              <a:t>400</a:t>
            </a:r>
            <a:endParaRPr lang="en-US" sz="11250" dirty="0"/>
          </a:p>
        </p:txBody>
      </p:sp>
      <p:sp>
        <p:nvSpPr>
          <p:cNvPr id="21" name="Text 19"/>
          <p:cNvSpPr/>
          <p:nvPr/>
        </p:nvSpPr>
        <p:spPr>
          <a:xfrm>
            <a:off x="12318950" y="4223147"/>
            <a:ext cx="4970678"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data points captured per completed inspection</a:t>
            </a:r>
            <a:endParaRPr lang="en-US" sz="2100" dirty="0"/>
          </a:p>
        </p:txBody>
      </p:sp>
      <p:sp>
        <p:nvSpPr>
          <p:cNvPr id="22" name="Text 20"/>
          <p:cNvSpPr/>
          <p:nvPr/>
        </p:nvSpPr>
        <p:spPr>
          <a:xfrm>
            <a:off x="1143000" y="8618339"/>
            <a:ext cx="7763982" cy="944761"/>
          </a:xfrm>
          <a:prstGeom prst="rect">
            <a:avLst/>
          </a:prstGeom>
          <a:noFill/>
          <a:ln/>
        </p:spPr>
        <p:txBody>
          <a:bodyPr wrap="square" lIns="25400" tIns="25400" rIns="25400" bIns="25400" rtlCol="0" anchor="t">
            <a:normAutofit/>
          </a:bodyPr>
          <a:lstStyle/>
          <a:p>
            <a:pPr algn="l" indent="0" marL="0">
              <a:lnSpc>
                <a:spcPct val="122051"/>
              </a:lnSpc>
              <a:buNone/>
            </a:pPr>
            <a:r>
              <a:rPr lang="en-US" sz="2550" dirty="0">
                <a:solidFill>
                  <a:srgbClr val="201E1D"/>
                </a:solidFill>
                <a:latin typeface="Arial" pitchFamily="34" charset="0"/>
                <a:ea typeface="Arial" pitchFamily="34" charset="-122"/>
                <a:cs typeface="Arial" pitchFamily="34" charset="-120"/>
              </a:rPr>
              <a:t>An offline-first app built from the v4 Site Inspection Form — not a simplified version of it.</a:t>
            </a:r>
            <a:endParaRPr lang="en-US" sz="2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PART A</a:t>
            </a:r>
            <a:endParaRPr lang="en-US" sz="1800" dirty="0"/>
          </a:p>
        </p:txBody>
      </p:sp>
      <p:sp>
        <p:nvSpPr>
          <p:cNvPr id="3" name="Text 1"/>
          <p:cNvSpPr/>
          <p:nvPr/>
        </p:nvSpPr>
        <p:spPr>
          <a:xfrm>
            <a:off x="1143000" y="1573411"/>
            <a:ext cx="9536653"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Key behaviours</a:t>
            </a:r>
            <a:endParaRPr lang="en-US" sz="4800" dirty="0"/>
          </a:p>
        </p:txBody>
      </p:sp>
      <p:sp>
        <p:nvSpPr>
          <p:cNvPr id="4" name="Text 2"/>
          <p:cNvSpPr/>
          <p:nvPr/>
        </p:nvSpPr>
        <p:spPr>
          <a:xfrm>
            <a:off x="1143000" y="2708672"/>
            <a:ext cx="827722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Continuous autosave</a:t>
            </a:r>
            <a:endParaRPr lang="en-US" sz="2550" dirty="0"/>
          </a:p>
        </p:txBody>
      </p:sp>
      <p:sp>
        <p:nvSpPr>
          <p:cNvPr id="5" name="Text 3"/>
          <p:cNvSpPr/>
          <p:nvPr/>
        </p:nvSpPr>
        <p:spPr>
          <a:xfrm>
            <a:off x="1143000" y="3211562"/>
            <a:ext cx="7750492"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Every keystroke, tick and photo saved within half a second. No Save button.</a:t>
            </a:r>
            <a:endParaRPr lang="en-US" sz="2100" dirty="0"/>
          </a:p>
        </p:txBody>
      </p:sp>
      <p:sp>
        <p:nvSpPr>
          <p:cNvPr id="6" name="Text 4"/>
          <p:cNvSpPr/>
          <p:nvPr/>
        </p:nvSpPr>
        <p:spPr>
          <a:xfrm>
            <a:off x="9620250" y="2708672"/>
            <a:ext cx="827722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Works with no signal at all</a:t>
            </a:r>
            <a:endParaRPr lang="en-US" sz="2550" dirty="0"/>
          </a:p>
        </p:txBody>
      </p:sp>
      <p:sp>
        <p:nvSpPr>
          <p:cNvPr id="7" name="Text 5"/>
          <p:cNvSpPr/>
          <p:nvPr/>
        </p:nvSpPr>
        <p:spPr>
          <a:xfrm>
            <a:off x="9620250" y="3211562"/>
            <a:ext cx="7750492"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Everything is stored on the device until you are back in coverage.</a:t>
            </a:r>
            <a:endParaRPr lang="en-US" sz="2100" dirty="0"/>
          </a:p>
        </p:txBody>
      </p:sp>
      <p:sp>
        <p:nvSpPr>
          <p:cNvPr id="8" name="Text 6"/>
          <p:cNvSpPr/>
          <p:nvPr/>
        </p:nvSpPr>
        <p:spPr>
          <a:xfrm>
            <a:off x="1143000" y="4491484"/>
            <a:ext cx="827722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Suspend and resume</a:t>
            </a:r>
            <a:endParaRPr lang="en-US" sz="2550" dirty="0"/>
          </a:p>
        </p:txBody>
      </p:sp>
      <p:sp>
        <p:nvSpPr>
          <p:cNvPr id="9" name="Text 7"/>
          <p:cNvSpPr/>
          <p:nvPr/>
        </p:nvSpPr>
        <p:spPr>
          <a:xfrm>
            <a:off x="1143000" y="4994374"/>
            <a:ext cx="7750492"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Leave an inspection at any point, reopen it later. Several can be open at once.</a:t>
            </a:r>
            <a:endParaRPr lang="en-US" sz="2100" dirty="0"/>
          </a:p>
        </p:txBody>
      </p:sp>
      <p:sp>
        <p:nvSpPr>
          <p:cNvPr id="10" name="Text 8"/>
          <p:cNvSpPr/>
          <p:nvPr/>
        </p:nvSpPr>
        <p:spPr>
          <a:xfrm>
            <a:off x="9620250" y="4491484"/>
            <a:ext cx="827722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Edit after completion</a:t>
            </a:r>
            <a:endParaRPr lang="en-US" sz="2550" dirty="0"/>
          </a:p>
        </p:txBody>
      </p:sp>
      <p:sp>
        <p:nvSpPr>
          <p:cNvPr id="11" name="Text 9"/>
          <p:cNvSpPr/>
          <p:nvPr/>
        </p:nvSpPr>
        <p:spPr>
          <a:xfrm>
            <a:off x="9620250" y="4994374"/>
            <a:ext cx="7750492"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A completed inspection can be reopened, edited and re-sent.</a:t>
            </a:r>
            <a:endParaRPr lang="en-US" sz="2100" dirty="0"/>
          </a:p>
        </p:txBody>
      </p:sp>
      <p:sp>
        <p:nvSpPr>
          <p:cNvPr id="12" name="Text 10"/>
          <p:cNvSpPr/>
          <p:nvPr/>
        </p:nvSpPr>
        <p:spPr>
          <a:xfrm>
            <a:off x="1143000" y="6274296"/>
            <a:ext cx="827722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Stage tracking</a:t>
            </a:r>
            <a:endParaRPr lang="en-US" sz="2550" dirty="0"/>
          </a:p>
        </p:txBody>
      </p:sp>
      <p:sp>
        <p:nvSpPr>
          <p:cNvPr id="13" name="Text 11"/>
          <p:cNvSpPr/>
          <p:nvPr/>
        </p:nvSpPr>
        <p:spPr>
          <a:xfrm>
            <a:off x="1143000" y="6777186"/>
            <a:ext cx="7750492"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Who holds it, who last edited it, when — logged to an audit trail that travels with the record.</a:t>
            </a:r>
            <a:endParaRPr lang="en-US" sz="2100" dirty="0"/>
          </a:p>
        </p:txBody>
      </p:sp>
      <p:sp>
        <p:nvSpPr>
          <p:cNvPr id="14" name="Text 12"/>
          <p:cNvSpPr/>
          <p:nvPr/>
        </p:nvSpPr>
        <p:spPr>
          <a:xfrm>
            <a:off x="9620250" y="6274296"/>
            <a:ext cx="827722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One-tap send and backup</a:t>
            </a:r>
            <a:endParaRPr lang="en-US" sz="2550" dirty="0"/>
          </a:p>
        </p:txBody>
      </p:sp>
      <p:sp>
        <p:nvSpPr>
          <p:cNvPr id="15" name="Text 13"/>
          <p:cNvSpPr/>
          <p:nvPr/>
        </p:nvSpPr>
        <p:spPr>
          <a:xfrm>
            <a:off x="9620250" y="6777186"/>
            <a:ext cx="7750492"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A self-contained HTML report with embedded photos, plus a JSON backup of every inspection.</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RELEASE</a:t>
            </a:r>
            <a:endParaRPr lang="en-US" sz="1800" dirty="0"/>
          </a:p>
        </p:txBody>
      </p:sp>
      <p:sp>
        <p:nvSpPr>
          <p:cNvPr id="3" name="Text 1"/>
          <p:cNvSpPr/>
          <p:nvPr/>
        </p:nvSpPr>
        <p:spPr>
          <a:xfrm>
            <a:off x="1143000" y="1573411"/>
            <a:ext cx="9536653"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What changed in v1.3</a:t>
            </a:r>
            <a:endParaRPr lang="en-US" sz="4800" dirty="0"/>
          </a:p>
        </p:txBody>
      </p:sp>
      <p:sp>
        <p:nvSpPr>
          <p:cNvPr id="4" name="Text 2"/>
          <p:cNvSpPr/>
          <p:nvPr/>
        </p:nvSpPr>
        <p:spPr>
          <a:xfrm>
            <a:off x="1143000" y="2708672"/>
            <a:ext cx="933450" cy="687586"/>
          </a:xfrm>
          <a:prstGeom prst="rect">
            <a:avLst/>
          </a:prstGeom>
          <a:noFill/>
          <a:ln/>
        </p:spPr>
        <p:txBody>
          <a:bodyPr wrap="square" lIns="25400" tIns="25400" rIns="25400" bIns="25400" rtlCol="0" anchor="t">
            <a:normAutofit/>
          </a:bodyPr>
          <a:lstStyle/>
          <a:p>
            <a:pPr algn="l" indent="0" marL="0">
              <a:lnSpc>
                <a:spcPct val="136400"/>
              </a:lnSpc>
              <a:buNone/>
            </a:pPr>
            <a:r>
              <a:rPr lang="en-US" sz="3300" dirty="0">
                <a:solidFill>
                  <a:srgbClr val="006786"/>
                </a:solidFill>
                <a:latin typeface="Arial" pitchFamily="34" charset="0"/>
                <a:ea typeface="Arial" pitchFamily="34" charset="-122"/>
                <a:cs typeface="Arial" pitchFamily="34" charset="-120"/>
              </a:rPr>
              <a:t>01</a:t>
            </a:r>
            <a:endParaRPr lang="en-US" sz="3300" dirty="0"/>
          </a:p>
        </p:txBody>
      </p:sp>
      <p:sp>
        <p:nvSpPr>
          <p:cNvPr id="5" name="Text 3"/>
          <p:cNvSpPr/>
          <p:nvPr/>
        </p:nvSpPr>
        <p:spPr>
          <a:xfrm>
            <a:off x="2381250" y="2870597"/>
            <a:ext cx="6475095" cy="81528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Photos upload to SharePoint by themselves</a:t>
            </a:r>
            <a:endParaRPr lang="en-US" sz="2550" dirty="0"/>
          </a:p>
        </p:txBody>
      </p:sp>
      <p:sp>
        <p:nvSpPr>
          <p:cNvPr id="6" name="Text 4"/>
          <p:cNvSpPr/>
          <p:nvPr/>
        </p:nvSpPr>
        <p:spPr>
          <a:xfrm>
            <a:off x="2381250" y="3743027"/>
            <a:ext cx="6475095" cy="1157883"/>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Full-quality originals, filed into the inspection's own folder. The largest change, and the reason for the rest.</a:t>
            </a:r>
            <a:endParaRPr lang="en-US" sz="2100" dirty="0"/>
          </a:p>
        </p:txBody>
      </p:sp>
      <p:sp>
        <p:nvSpPr>
          <p:cNvPr id="7" name="Text 5"/>
          <p:cNvSpPr/>
          <p:nvPr/>
        </p:nvSpPr>
        <p:spPr>
          <a:xfrm>
            <a:off x="9620250" y="2708672"/>
            <a:ext cx="933450" cy="687586"/>
          </a:xfrm>
          <a:prstGeom prst="rect">
            <a:avLst/>
          </a:prstGeom>
          <a:noFill/>
          <a:ln/>
        </p:spPr>
        <p:txBody>
          <a:bodyPr wrap="square" lIns="25400" tIns="25400" rIns="25400" bIns="25400" rtlCol="0" anchor="t">
            <a:normAutofit/>
          </a:bodyPr>
          <a:lstStyle/>
          <a:p>
            <a:pPr algn="l" indent="0" marL="0">
              <a:lnSpc>
                <a:spcPct val="136400"/>
              </a:lnSpc>
              <a:buNone/>
            </a:pPr>
            <a:r>
              <a:rPr lang="en-US" sz="3300" dirty="0">
                <a:solidFill>
                  <a:srgbClr val="006786"/>
                </a:solidFill>
                <a:latin typeface="Arial" pitchFamily="34" charset="0"/>
                <a:ea typeface="Arial" pitchFamily="34" charset="-122"/>
                <a:cs typeface="Arial" pitchFamily="34" charset="-120"/>
              </a:rPr>
              <a:t>02</a:t>
            </a:r>
            <a:endParaRPr lang="en-US" sz="3300" dirty="0"/>
          </a:p>
        </p:txBody>
      </p:sp>
      <p:sp>
        <p:nvSpPr>
          <p:cNvPr id="8" name="Text 6"/>
          <p:cNvSpPr/>
          <p:nvPr/>
        </p:nvSpPr>
        <p:spPr>
          <a:xfrm>
            <a:off x="10858500" y="2870597"/>
            <a:ext cx="6915150"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You sign in once</a:t>
            </a:r>
            <a:endParaRPr lang="en-US" sz="2550" dirty="0"/>
          </a:p>
        </p:txBody>
      </p:sp>
      <p:sp>
        <p:nvSpPr>
          <p:cNvPr id="9" name="Text 7"/>
          <p:cNvSpPr/>
          <p:nvPr/>
        </p:nvSpPr>
        <p:spPr>
          <a:xfrm>
            <a:off x="10858500" y="3354437"/>
            <a:ext cx="6475095" cy="1157883"/>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With your Dryspace Microsoft account. It is remembered, and losing signal does not sign you out.</a:t>
            </a:r>
            <a:endParaRPr lang="en-US" sz="2100" dirty="0"/>
          </a:p>
        </p:txBody>
      </p:sp>
      <p:sp>
        <p:nvSpPr>
          <p:cNvPr id="10" name="Text 8"/>
          <p:cNvSpPr/>
          <p:nvPr/>
        </p:nvSpPr>
        <p:spPr>
          <a:xfrm>
            <a:off x="1143000" y="5396210"/>
            <a:ext cx="933450" cy="687586"/>
          </a:xfrm>
          <a:prstGeom prst="rect">
            <a:avLst/>
          </a:prstGeom>
          <a:noFill/>
          <a:ln/>
        </p:spPr>
        <p:txBody>
          <a:bodyPr wrap="square" lIns="25400" tIns="25400" rIns="25400" bIns="25400" rtlCol="0" anchor="t">
            <a:normAutofit/>
          </a:bodyPr>
          <a:lstStyle/>
          <a:p>
            <a:pPr algn="l" indent="0" marL="0">
              <a:lnSpc>
                <a:spcPct val="136400"/>
              </a:lnSpc>
              <a:buNone/>
            </a:pPr>
            <a:r>
              <a:rPr lang="en-US" sz="3300" dirty="0">
                <a:solidFill>
                  <a:srgbClr val="006786"/>
                </a:solidFill>
                <a:latin typeface="Arial" pitchFamily="34" charset="0"/>
                <a:ea typeface="Arial" pitchFamily="34" charset="-122"/>
                <a:cs typeface="Arial" pitchFamily="34" charset="-120"/>
              </a:rPr>
              <a:t>03</a:t>
            </a:r>
            <a:endParaRPr lang="en-US" sz="3300" dirty="0"/>
          </a:p>
        </p:txBody>
      </p:sp>
      <p:sp>
        <p:nvSpPr>
          <p:cNvPr id="11" name="Text 9"/>
          <p:cNvSpPr/>
          <p:nvPr/>
        </p:nvSpPr>
        <p:spPr>
          <a:xfrm>
            <a:off x="2381250" y="5558135"/>
            <a:ext cx="6915150"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Nothing is deleted on trust</a:t>
            </a:r>
            <a:endParaRPr lang="en-US" sz="2550" dirty="0"/>
          </a:p>
        </p:txBody>
      </p:sp>
      <p:sp>
        <p:nvSpPr>
          <p:cNvPr id="12" name="Text 10"/>
          <p:cNvSpPr/>
          <p:nvPr/>
        </p:nvSpPr>
        <p:spPr>
          <a:xfrm>
            <a:off x="2381250" y="6041975"/>
            <a:ext cx="6475095"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The app reads every uploaded file back out of SharePoint and confirms it arrived complete.</a:t>
            </a:r>
            <a:endParaRPr lang="en-US" sz="2100" dirty="0"/>
          </a:p>
        </p:txBody>
      </p:sp>
      <p:sp>
        <p:nvSpPr>
          <p:cNvPr id="13" name="Text 11"/>
          <p:cNvSpPr/>
          <p:nvPr/>
        </p:nvSpPr>
        <p:spPr>
          <a:xfrm>
            <a:off x="9620250" y="5396210"/>
            <a:ext cx="933450" cy="687586"/>
          </a:xfrm>
          <a:prstGeom prst="rect">
            <a:avLst/>
          </a:prstGeom>
          <a:noFill/>
          <a:ln/>
        </p:spPr>
        <p:txBody>
          <a:bodyPr wrap="square" lIns="25400" tIns="25400" rIns="25400" bIns="25400" rtlCol="0" anchor="t">
            <a:normAutofit/>
          </a:bodyPr>
          <a:lstStyle/>
          <a:p>
            <a:pPr algn="l" indent="0" marL="0">
              <a:lnSpc>
                <a:spcPct val="136400"/>
              </a:lnSpc>
              <a:buNone/>
            </a:pPr>
            <a:r>
              <a:rPr lang="en-US" sz="3300" dirty="0">
                <a:solidFill>
                  <a:srgbClr val="006786"/>
                </a:solidFill>
                <a:latin typeface="Arial" pitchFamily="34" charset="0"/>
                <a:ea typeface="Arial" pitchFamily="34" charset="-122"/>
                <a:cs typeface="Arial" pitchFamily="34" charset="-120"/>
              </a:rPr>
              <a:t>04</a:t>
            </a:r>
            <a:endParaRPr lang="en-US" sz="3300" dirty="0"/>
          </a:p>
        </p:txBody>
      </p:sp>
      <p:sp>
        <p:nvSpPr>
          <p:cNvPr id="14" name="Text 12"/>
          <p:cNvSpPr/>
          <p:nvPr/>
        </p:nvSpPr>
        <p:spPr>
          <a:xfrm>
            <a:off x="10858500" y="5558135"/>
            <a:ext cx="6915150"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Updates are announced, not silent</a:t>
            </a:r>
            <a:endParaRPr lang="en-US" sz="2550" dirty="0"/>
          </a:p>
        </p:txBody>
      </p:sp>
      <p:sp>
        <p:nvSpPr>
          <p:cNvPr id="15" name="Text 13"/>
          <p:cNvSpPr/>
          <p:nvPr/>
        </p:nvSpPr>
        <p:spPr>
          <a:xfrm>
            <a:off x="10858500" y="6041975"/>
            <a:ext cx="6475095" cy="1157883"/>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A bar appears when a new version is ready, with an Update button — plus a check-on-demand button at home.</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800100" y="2471886"/>
            <a:ext cx="3577679" cy="3257550"/>
          </a:xfrm>
          <a:prstGeom prst="rect">
            <a:avLst/>
          </a:prstGeom>
          <a:solidFill>
            <a:srgbClr val="F3F2F2"/>
          </a:solidFill>
          <a:ln/>
        </p:spPr>
      </p:sp>
      <p:sp>
        <p:nvSpPr>
          <p:cNvPr id="3" name="Text 1"/>
          <p:cNvSpPr/>
          <p:nvPr/>
        </p:nvSpPr>
        <p:spPr>
          <a:xfrm>
            <a:off x="1143000" y="2138511"/>
            <a:ext cx="3181067" cy="3962400"/>
          </a:xfrm>
          <a:prstGeom prst="rect">
            <a:avLst/>
          </a:prstGeom>
          <a:noFill/>
          <a:ln/>
          <a:effectLst>
            <a:outerShdw sx="100000" sy="100000" kx="0" ky="0" algn="bl" rotWithShape="0" blurRad="101600" dist="125242" dir="2100000">
              <a:srgbClr val="F3F2F2">
                <a:alpha val="100000"/>
              </a:srgbClr>
            </a:outerShdw>
          </a:effectLst>
        </p:spPr>
        <p:txBody>
          <a:bodyPr wrap="square" lIns="25400" tIns="25400" rIns="25400" bIns="25400" rtlCol="0" anchor="t">
            <a:normAutofit/>
          </a:bodyPr>
          <a:lstStyle/>
          <a:p>
            <a:pPr algn="l" indent="0" marL="0">
              <a:lnSpc>
                <a:spcPct val="78035"/>
              </a:lnSpc>
              <a:buNone/>
            </a:pPr>
            <a:r>
              <a:rPr lang="en-US" sz="22500" b="1" dirty="0">
                <a:solidFill>
                  <a:srgbClr val="F3F2F2"/>
                </a:solidFill>
                <a:latin typeface="Arial" pitchFamily="34" charset="0"/>
                <a:ea typeface="Arial" pitchFamily="34" charset="-122"/>
                <a:cs typeface="Arial" pitchFamily="34" charset="-120"/>
              </a:rPr>
              <a:t>01</a:t>
            </a:r>
            <a:endParaRPr lang="en-US" sz="22500" dirty="0"/>
          </a:p>
        </p:txBody>
      </p:sp>
      <p:sp>
        <p:nvSpPr>
          <p:cNvPr id="4" name="Text 2"/>
          <p:cNvSpPr/>
          <p:nvPr/>
        </p:nvSpPr>
        <p:spPr>
          <a:xfrm>
            <a:off x="1143000" y="2814786"/>
            <a:ext cx="3181067" cy="2609850"/>
          </a:xfrm>
          <a:prstGeom prst="rect">
            <a:avLst/>
          </a:prstGeom>
          <a:noFill/>
          <a:ln/>
        </p:spPr>
        <p:txBody>
          <a:bodyPr wrap="square" lIns="25400" tIns="25400" rIns="25400" bIns="25400" rtlCol="0" anchor="t">
            <a:normAutofit/>
          </a:bodyPr>
          <a:lstStyle/>
          <a:p>
            <a:pPr algn="l" indent="0" marL="0">
              <a:lnSpc>
                <a:spcPct val="78035"/>
              </a:lnSpc>
              <a:buNone/>
            </a:pPr>
            <a:r>
              <a:rPr lang="en-US" sz="22500" b="1" dirty="0">
                <a:solidFill>
                  <a:srgbClr val="0088B0"/>
                </a:solidFill>
                <a:latin typeface="Arial" pitchFamily="34" charset="0"/>
                <a:ea typeface="Arial" pitchFamily="34" charset="-122"/>
                <a:cs typeface="Arial" pitchFamily="34" charset="-120"/>
              </a:rPr>
              <a:t>01</a:t>
            </a:r>
            <a:endParaRPr lang="en-US" sz="22500" dirty="0"/>
          </a:p>
        </p:txBody>
      </p:sp>
      <p:sp>
        <p:nvSpPr>
          <p:cNvPr id="5" name="Text 3"/>
          <p:cNvSpPr/>
          <p:nvPr/>
        </p:nvSpPr>
        <p:spPr>
          <a:xfrm>
            <a:off x="1245870" y="2886224"/>
            <a:ext cx="3181067" cy="2609850"/>
          </a:xfrm>
          <a:prstGeom prst="rect">
            <a:avLst/>
          </a:prstGeom>
          <a:noFill/>
          <a:ln/>
        </p:spPr>
        <p:txBody>
          <a:bodyPr wrap="square" lIns="25400" tIns="25400" rIns="25400" bIns="25400" rtlCol="0" anchor="t">
            <a:normAutofit/>
          </a:bodyPr>
          <a:lstStyle/>
          <a:p>
            <a:pPr algn="l" indent="0" marL="0">
              <a:lnSpc>
                <a:spcPct val="78035"/>
              </a:lnSpc>
              <a:buNone/>
            </a:pPr>
            <a:r>
              <a:rPr lang="en-US" sz="22500" b="1" dirty="0">
                <a:solidFill>
                  <a:srgbClr val="D6006C"/>
                </a:solidFill>
                <a:latin typeface="Arial" pitchFamily="34" charset="0"/>
                <a:ea typeface="Arial" pitchFamily="34" charset="-122"/>
                <a:cs typeface="Arial" pitchFamily="34" charset="-120"/>
              </a:rPr>
              <a:t>01</a:t>
            </a:r>
            <a:endParaRPr lang="en-US" sz="22500" dirty="0"/>
          </a:p>
        </p:txBody>
      </p:sp>
      <p:sp>
        <p:nvSpPr>
          <p:cNvPr id="6" name="Text 4"/>
          <p:cNvSpPr/>
          <p:nvPr/>
        </p:nvSpPr>
        <p:spPr>
          <a:xfrm>
            <a:off x="1054417" y="2749064"/>
            <a:ext cx="3181067" cy="2609850"/>
          </a:xfrm>
          <a:prstGeom prst="rect">
            <a:avLst/>
          </a:prstGeom>
          <a:noFill/>
          <a:ln/>
        </p:spPr>
        <p:txBody>
          <a:bodyPr wrap="square" lIns="25400" tIns="25400" rIns="25400" bIns="25400" rtlCol="0" anchor="t">
            <a:normAutofit/>
          </a:bodyPr>
          <a:lstStyle/>
          <a:p>
            <a:pPr algn="l" indent="0" marL="0">
              <a:lnSpc>
                <a:spcPct val="78035"/>
              </a:lnSpc>
              <a:buNone/>
            </a:pPr>
            <a:r>
              <a:rPr lang="en-US" sz="22500" b="1" dirty="0">
                <a:solidFill>
                  <a:srgbClr val="EDBB00"/>
                </a:solidFill>
                <a:latin typeface="Arial" pitchFamily="34" charset="0"/>
                <a:ea typeface="Arial" pitchFamily="34" charset="-122"/>
                <a:cs typeface="Arial" pitchFamily="34" charset="-120"/>
              </a:rPr>
              <a:t>01</a:t>
            </a:r>
            <a:endParaRPr lang="en-US" sz="22500" dirty="0"/>
          </a:p>
        </p:txBody>
      </p:sp>
      <p:sp>
        <p:nvSpPr>
          <p:cNvPr id="7" name="Text 5"/>
          <p:cNvSpPr/>
          <p:nvPr/>
        </p:nvSpPr>
        <p:spPr>
          <a:xfrm>
            <a:off x="1143000" y="5767536"/>
            <a:ext cx="17602200"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Setting up</a:t>
            </a:r>
            <a:endParaRPr lang="en-US" sz="4800" dirty="0"/>
          </a:p>
        </p:txBody>
      </p:sp>
      <p:sp>
        <p:nvSpPr>
          <p:cNvPr id="8" name="Text 6"/>
          <p:cNvSpPr/>
          <p:nvPr/>
        </p:nvSpPr>
        <p:spPr>
          <a:xfrm>
            <a:off x="1143000" y="6788497"/>
            <a:ext cx="7411102" cy="912316"/>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444141"/>
                </a:solidFill>
                <a:latin typeface="Arial" pitchFamily="34" charset="0"/>
                <a:ea typeface="Arial" pitchFamily="34" charset="-122"/>
                <a:cs typeface="Arial" pitchFamily="34" charset="-120"/>
              </a:rPr>
              <a:t>Install, sign in, set your name. Once per device, at a desk with signal.</a:t>
            </a:r>
            <a:endParaRPr lang="en-US" sz="2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PART C</a:t>
            </a:r>
            <a:endParaRPr lang="en-US" sz="1800" dirty="0"/>
          </a:p>
        </p:txBody>
      </p:sp>
      <p:sp>
        <p:nvSpPr>
          <p:cNvPr id="3" name="Text 1"/>
          <p:cNvSpPr/>
          <p:nvPr/>
        </p:nvSpPr>
        <p:spPr>
          <a:xfrm>
            <a:off x="1143000" y="1573411"/>
            <a:ext cx="11003831"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Installing on each device</a:t>
            </a:r>
            <a:endParaRPr lang="en-US" sz="4800" dirty="0"/>
          </a:p>
        </p:txBody>
      </p:sp>
      <p:sp>
        <p:nvSpPr>
          <p:cNvPr id="4" name="Text 2"/>
          <p:cNvSpPr/>
          <p:nvPr/>
        </p:nvSpPr>
        <p:spPr>
          <a:xfrm>
            <a:off x="1143000" y="2708672"/>
            <a:ext cx="5308491"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iPad / iPhone — Safari</a:t>
            </a:r>
            <a:endParaRPr lang="en-US" sz="2550" dirty="0"/>
          </a:p>
        </p:txBody>
      </p:sp>
      <p:sp>
        <p:nvSpPr>
          <p:cNvPr id="5" name="Text 3"/>
          <p:cNvSpPr/>
          <p:nvPr/>
        </p:nvSpPr>
        <p:spPr>
          <a:xfrm>
            <a:off x="1143000" y="3306812"/>
            <a:ext cx="5308491" cy="42475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44141"/>
                </a:solidFill>
                <a:latin typeface="Arial" pitchFamily="34" charset="0"/>
                <a:ea typeface="Arial" pitchFamily="34" charset="-122"/>
                <a:cs typeface="Arial" pitchFamily="34" charset="-120"/>
              </a:rPr>
              <a:t>Open the live address in Safari</a:t>
            </a:r>
            <a:endParaRPr lang="en-US" sz="2100" dirty="0"/>
          </a:p>
        </p:txBody>
      </p:sp>
      <p:sp>
        <p:nvSpPr>
          <p:cNvPr id="6" name="Text 4"/>
          <p:cNvSpPr/>
          <p:nvPr/>
        </p:nvSpPr>
        <p:spPr>
          <a:xfrm>
            <a:off x="1143000" y="3903018"/>
            <a:ext cx="5308491" cy="42475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44141"/>
                </a:solidFill>
                <a:latin typeface="Arial" pitchFamily="34" charset="0"/>
                <a:ea typeface="Arial" pitchFamily="34" charset="-122"/>
                <a:cs typeface="Arial" pitchFamily="34" charset="-120"/>
              </a:rPr>
              <a:t>Share icon → Add to Home Screen</a:t>
            </a:r>
            <a:endParaRPr lang="en-US" sz="2100" dirty="0"/>
          </a:p>
        </p:txBody>
      </p:sp>
      <p:sp>
        <p:nvSpPr>
          <p:cNvPr id="7" name="Text 5"/>
          <p:cNvSpPr/>
          <p:nvPr/>
        </p:nvSpPr>
        <p:spPr>
          <a:xfrm>
            <a:off x="1143000" y="4499223"/>
            <a:ext cx="5308491" cy="42475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44141"/>
                </a:solidFill>
                <a:latin typeface="Arial" pitchFamily="34" charset="0"/>
                <a:ea typeface="Arial" pitchFamily="34" charset="-122"/>
                <a:cs typeface="Arial" pitchFamily="34" charset="-120"/>
              </a:rPr>
              <a:t>Open it once from the icon, online</a:t>
            </a:r>
            <a:endParaRPr lang="en-US" sz="2100" dirty="0"/>
          </a:p>
        </p:txBody>
      </p:sp>
      <p:sp>
        <p:nvSpPr>
          <p:cNvPr id="8" name="Text 6"/>
          <p:cNvSpPr/>
          <p:nvPr/>
        </p:nvSpPr>
        <p:spPr>
          <a:xfrm>
            <a:off x="6730901" y="2708672"/>
            <a:ext cx="530865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Android — Chrome</a:t>
            </a:r>
            <a:endParaRPr lang="en-US" sz="2550" dirty="0"/>
          </a:p>
        </p:txBody>
      </p:sp>
      <p:sp>
        <p:nvSpPr>
          <p:cNvPr id="9" name="Text 7"/>
          <p:cNvSpPr/>
          <p:nvPr/>
        </p:nvSpPr>
        <p:spPr>
          <a:xfrm>
            <a:off x="6730901" y="3306812"/>
            <a:ext cx="5308655" cy="42475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44141"/>
                </a:solidFill>
                <a:latin typeface="Arial" pitchFamily="34" charset="0"/>
                <a:ea typeface="Arial" pitchFamily="34" charset="-122"/>
                <a:cs typeface="Arial" pitchFamily="34" charset="-120"/>
              </a:rPr>
              <a:t>Open the same address in Chrome</a:t>
            </a:r>
            <a:endParaRPr lang="en-US" sz="2100" dirty="0"/>
          </a:p>
        </p:txBody>
      </p:sp>
      <p:sp>
        <p:nvSpPr>
          <p:cNvPr id="10" name="Text 8"/>
          <p:cNvSpPr/>
          <p:nvPr/>
        </p:nvSpPr>
        <p:spPr>
          <a:xfrm>
            <a:off x="6730901" y="3903018"/>
            <a:ext cx="5308655" cy="42475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44141"/>
                </a:solidFill>
                <a:latin typeface="Arial" pitchFamily="34" charset="0"/>
                <a:ea typeface="Arial" pitchFamily="34" charset="-122"/>
                <a:cs typeface="Arial" pitchFamily="34" charset="-120"/>
              </a:rPr>
              <a:t>⋮ menu → Add to Home screen</a:t>
            </a:r>
            <a:endParaRPr lang="en-US" sz="2100" dirty="0"/>
          </a:p>
        </p:txBody>
      </p:sp>
      <p:sp>
        <p:nvSpPr>
          <p:cNvPr id="11" name="Text 9"/>
          <p:cNvSpPr/>
          <p:nvPr/>
        </p:nvSpPr>
        <p:spPr>
          <a:xfrm>
            <a:off x="12318950" y="2708672"/>
            <a:ext cx="4970678" cy="815280"/>
          </a:xfrm>
          <a:prstGeom prst="rect">
            <a:avLst/>
          </a:prstGeom>
          <a:noFill/>
          <a:ln/>
        </p:spPr>
        <p:txBody>
          <a:bodyPr wrap="square" lIns="25400" tIns="25400" rIns="25400" bIns="25400" rtlCol="0" anchor="t">
            <a:normAutofit/>
          </a:bodyPr>
          <a:lstStyle/>
          <a:p>
            <a:pPr algn="l" indent="0" marL="0">
              <a:lnSpc>
                <a:spcPct val="104615"/>
              </a:lnSpc>
              <a:buNone/>
            </a:pPr>
            <a:r>
              <a:rPr lang="en-US" sz="2550" dirty="0">
                <a:solidFill>
                  <a:srgbClr val="201E1D"/>
                </a:solidFill>
                <a:latin typeface="Arial" pitchFamily="34" charset="0"/>
                <a:ea typeface="Arial" pitchFamily="34" charset="-122"/>
                <a:cs typeface="Arial" pitchFamily="34" charset="-120"/>
              </a:rPr>
              <a:t>Windows PC — for office pre-fill</a:t>
            </a:r>
            <a:endParaRPr lang="en-US" sz="2550" dirty="0"/>
          </a:p>
        </p:txBody>
      </p:sp>
      <p:sp>
        <p:nvSpPr>
          <p:cNvPr id="12" name="Text 10"/>
          <p:cNvSpPr/>
          <p:nvPr/>
        </p:nvSpPr>
        <p:spPr>
          <a:xfrm>
            <a:off x="12318950" y="3695402"/>
            <a:ext cx="5308491" cy="424755"/>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44141"/>
                </a:solidFill>
                <a:latin typeface="Arial" pitchFamily="34" charset="0"/>
                <a:ea typeface="Arial" pitchFamily="34" charset="-122"/>
                <a:cs typeface="Arial" pitchFamily="34" charset="-120"/>
              </a:rPr>
              <a:t>Open the address in Chrome or Edge</a:t>
            </a:r>
            <a:endParaRPr lang="en-US" sz="2100" dirty="0"/>
          </a:p>
        </p:txBody>
      </p:sp>
      <p:sp>
        <p:nvSpPr>
          <p:cNvPr id="13" name="Text 11"/>
          <p:cNvSpPr/>
          <p:nvPr/>
        </p:nvSpPr>
        <p:spPr>
          <a:xfrm>
            <a:off x="12318950" y="4291608"/>
            <a:ext cx="4970678" cy="811411"/>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44141"/>
                </a:solidFill>
                <a:latin typeface="Arial" pitchFamily="34" charset="0"/>
                <a:ea typeface="Arial" pitchFamily="34" charset="-122"/>
                <a:cs typeface="Arial" pitchFamily="34" charset="-120"/>
              </a:rPr>
              <a:t>Click the install icon in the address bar</a:t>
            </a:r>
            <a:endParaRPr lang="en-US" sz="2100" dirty="0"/>
          </a:p>
        </p:txBody>
      </p:sp>
      <p:sp>
        <p:nvSpPr>
          <p:cNvPr id="14" name="Text 12"/>
          <p:cNvSpPr/>
          <p:nvPr/>
        </p:nvSpPr>
        <p:spPr>
          <a:xfrm>
            <a:off x="1143000" y="8213675"/>
            <a:ext cx="7750492" cy="1349425"/>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Always open the installed icon, never a browser tab — installed apps get protected storage.</a:t>
            </a:r>
            <a:endParaRPr lang="en-US" sz="2550" dirty="0"/>
          </a:p>
        </p:txBody>
      </p:sp>
      <p:sp>
        <p:nvSpPr>
          <p:cNvPr id="15" name="Text 13"/>
          <p:cNvSpPr/>
          <p:nvPr/>
        </p:nvSpPr>
        <p:spPr>
          <a:xfrm>
            <a:off x="9620250" y="8213675"/>
            <a:ext cx="7750492" cy="1349425"/>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006786"/>
                </a:solidFill>
                <a:latin typeface="Arial" pitchFamily="34" charset="0"/>
                <a:ea typeface="Arial" pitchFamily="34" charset="-122"/>
                <a:cs typeface="Arial" pitchFamily="34" charset="-120"/>
              </a:rPr>
              <a:t>Then sign in once with your Dryspace Microsoft account, and fill in </a:t>
            </a:r>
            <a:pPr algn="l" indent="0" marL="0">
              <a:lnSpc>
                <a:spcPct val="117692"/>
              </a:lnSpc>
              <a:buNone/>
            </a:pPr>
            <a:r>
              <a:rPr lang="en-US" sz="2550" i="1" dirty="0">
                <a:solidFill>
                  <a:srgbClr val="006786"/>
                </a:solidFill>
                <a:latin typeface="Arial" pitchFamily="34" charset="0"/>
                <a:ea typeface="Arial" pitchFamily="34" charset="-122"/>
                <a:cs typeface="Arial" pitchFamily="34" charset="-120"/>
              </a:rPr>
              <a:t>Your name </a:t>
            </a:r>
            <a:pPr algn="l" indent="0" marL="0">
              <a:lnSpc>
                <a:spcPct val="117692"/>
              </a:lnSpc>
              <a:buNone/>
            </a:pPr>
            <a:r>
              <a:rPr lang="en-US" sz="2550" dirty="0">
                <a:solidFill>
                  <a:srgbClr val="006786"/>
                </a:solidFill>
                <a:latin typeface="Arial" pitchFamily="34" charset="0"/>
                <a:ea typeface="Arial" pitchFamily="34" charset="-122"/>
                <a:cs typeface="Arial" pitchFamily="34" charset="-120"/>
              </a:rPr>
              <a:t>at the top of any inspection.</a:t>
            </a:r>
            <a:endParaRPr lang="en-US" sz="2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p:bgPr>
    </p:bg>
    <p:spTree>
      <p:nvGrpSpPr>
        <p:cNvPr id="1" name=""/>
        <p:cNvGrpSpPr/>
        <p:nvPr/>
      </p:nvGrpSpPr>
      <p:grpSpPr>
        <a:xfrm>
          <a:off x="0" y="0"/>
          <a:ext cx="0" cy="0"/>
          <a:chOff x="0" y="0"/>
          <a:chExt cx="0" cy="0"/>
        </a:xfrm>
      </p:grpSpPr>
      <p:sp>
        <p:nvSpPr>
          <p:cNvPr id="2" name="Shape 0"/>
          <p:cNvSpPr/>
          <p:nvPr/>
        </p:nvSpPr>
        <p:spPr>
          <a:xfrm>
            <a:off x="800100" y="2471886"/>
            <a:ext cx="3869234" cy="3257550"/>
          </a:xfrm>
          <a:prstGeom prst="rect">
            <a:avLst/>
          </a:prstGeom>
          <a:solidFill>
            <a:srgbClr val="F3F2F2"/>
          </a:solidFill>
          <a:ln/>
        </p:spPr>
      </p:sp>
      <p:sp>
        <p:nvSpPr>
          <p:cNvPr id="3" name="Text 1"/>
          <p:cNvSpPr/>
          <p:nvPr/>
        </p:nvSpPr>
        <p:spPr>
          <a:xfrm>
            <a:off x="1143000" y="2138511"/>
            <a:ext cx="3501777" cy="3962400"/>
          </a:xfrm>
          <a:prstGeom prst="rect">
            <a:avLst/>
          </a:prstGeom>
          <a:noFill/>
          <a:ln/>
          <a:effectLst>
            <a:outerShdw sx="100000" sy="100000" kx="0" ky="0" algn="bl" rotWithShape="0" blurRad="101600" dist="125242" dir="2100000">
              <a:srgbClr val="F3F2F2">
                <a:alpha val="100000"/>
              </a:srgbClr>
            </a:outerShdw>
          </a:effectLst>
        </p:spPr>
        <p:txBody>
          <a:bodyPr wrap="square" lIns="25400" tIns="25400" rIns="25400" bIns="25400" rtlCol="0" anchor="t">
            <a:normAutofit/>
          </a:bodyPr>
          <a:lstStyle/>
          <a:p>
            <a:pPr algn="l" indent="0" marL="0">
              <a:lnSpc>
                <a:spcPct val="78035"/>
              </a:lnSpc>
              <a:buNone/>
            </a:pPr>
            <a:r>
              <a:rPr lang="en-US" sz="22500" b="1" dirty="0">
                <a:solidFill>
                  <a:srgbClr val="F3F2F2"/>
                </a:solidFill>
                <a:latin typeface="Arial" pitchFamily="34" charset="0"/>
                <a:ea typeface="Arial" pitchFamily="34" charset="-122"/>
                <a:cs typeface="Arial" pitchFamily="34" charset="-120"/>
              </a:rPr>
              <a:t>02</a:t>
            </a:r>
            <a:endParaRPr lang="en-US" sz="22500" dirty="0"/>
          </a:p>
        </p:txBody>
      </p:sp>
      <p:sp>
        <p:nvSpPr>
          <p:cNvPr id="4" name="Text 2"/>
          <p:cNvSpPr/>
          <p:nvPr/>
        </p:nvSpPr>
        <p:spPr>
          <a:xfrm>
            <a:off x="1143000" y="2814786"/>
            <a:ext cx="3501777" cy="2609850"/>
          </a:xfrm>
          <a:prstGeom prst="rect">
            <a:avLst/>
          </a:prstGeom>
          <a:noFill/>
          <a:ln/>
        </p:spPr>
        <p:txBody>
          <a:bodyPr wrap="square" lIns="25400" tIns="25400" rIns="25400" bIns="25400" rtlCol="0" anchor="t">
            <a:normAutofit/>
          </a:bodyPr>
          <a:lstStyle/>
          <a:p>
            <a:pPr algn="l" indent="0" marL="0">
              <a:lnSpc>
                <a:spcPct val="78035"/>
              </a:lnSpc>
              <a:buNone/>
            </a:pPr>
            <a:r>
              <a:rPr lang="en-US" sz="22500" b="1" dirty="0">
                <a:solidFill>
                  <a:srgbClr val="0088B0"/>
                </a:solidFill>
                <a:latin typeface="Arial" pitchFamily="34" charset="0"/>
                <a:ea typeface="Arial" pitchFamily="34" charset="-122"/>
                <a:cs typeface="Arial" pitchFamily="34" charset="-120"/>
              </a:rPr>
              <a:t>02</a:t>
            </a:r>
            <a:endParaRPr lang="en-US" sz="22500" dirty="0"/>
          </a:p>
        </p:txBody>
      </p:sp>
      <p:sp>
        <p:nvSpPr>
          <p:cNvPr id="5" name="Text 3"/>
          <p:cNvSpPr/>
          <p:nvPr/>
        </p:nvSpPr>
        <p:spPr>
          <a:xfrm>
            <a:off x="1245870" y="2886224"/>
            <a:ext cx="3501777" cy="2609850"/>
          </a:xfrm>
          <a:prstGeom prst="rect">
            <a:avLst/>
          </a:prstGeom>
          <a:noFill/>
          <a:ln/>
        </p:spPr>
        <p:txBody>
          <a:bodyPr wrap="square" lIns="25400" tIns="25400" rIns="25400" bIns="25400" rtlCol="0" anchor="t">
            <a:normAutofit/>
          </a:bodyPr>
          <a:lstStyle/>
          <a:p>
            <a:pPr algn="l" indent="0" marL="0">
              <a:lnSpc>
                <a:spcPct val="78035"/>
              </a:lnSpc>
              <a:buNone/>
            </a:pPr>
            <a:r>
              <a:rPr lang="en-US" sz="22500" b="1" dirty="0">
                <a:solidFill>
                  <a:srgbClr val="D6006C"/>
                </a:solidFill>
                <a:latin typeface="Arial" pitchFamily="34" charset="0"/>
                <a:ea typeface="Arial" pitchFamily="34" charset="-122"/>
                <a:cs typeface="Arial" pitchFamily="34" charset="-120"/>
              </a:rPr>
              <a:t>02</a:t>
            </a:r>
            <a:endParaRPr lang="en-US" sz="22500" dirty="0"/>
          </a:p>
        </p:txBody>
      </p:sp>
      <p:sp>
        <p:nvSpPr>
          <p:cNvPr id="6" name="Text 4"/>
          <p:cNvSpPr/>
          <p:nvPr/>
        </p:nvSpPr>
        <p:spPr>
          <a:xfrm>
            <a:off x="1054417" y="2749064"/>
            <a:ext cx="3501777" cy="2609850"/>
          </a:xfrm>
          <a:prstGeom prst="rect">
            <a:avLst/>
          </a:prstGeom>
          <a:noFill/>
          <a:ln/>
        </p:spPr>
        <p:txBody>
          <a:bodyPr wrap="square" lIns="25400" tIns="25400" rIns="25400" bIns="25400" rtlCol="0" anchor="t">
            <a:normAutofit/>
          </a:bodyPr>
          <a:lstStyle/>
          <a:p>
            <a:pPr algn="l" indent="0" marL="0">
              <a:lnSpc>
                <a:spcPct val="78035"/>
              </a:lnSpc>
              <a:buNone/>
            </a:pPr>
            <a:r>
              <a:rPr lang="en-US" sz="22500" b="1" dirty="0">
                <a:solidFill>
                  <a:srgbClr val="EDBB00"/>
                </a:solidFill>
                <a:latin typeface="Arial" pitchFamily="34" charset="0"/>
                <a:ea typeface="Arial" pitchFamily="34" charset="-122"/>
                <a:cs typeface="Arial" pitchFamily="34" charset="-120"/>
              </a:rPr>
              <a:t>02</a:t>
            </a:r>
            <a:endParaRPr lang="en-US" sz="22500" dirty="0"/>
          </a:p>
        </p:txBody>
      </p:sp>
      <p:sp>
        <p:nvSpPr>
          <p:cNvPr id="7" name="Text 5"/>
          <p:cNvSpPr/>
          <p:nvPr/>
        </p:nvSpPr>
        <p:spPr>
          <a:xfrm>
            <a:off x="1143000" y="5767536"/>
            <a:ext cx="17602200"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Using it on site</a:t>
            </a:r>
            <a:endParaRPr lang="en-US" sz="4800" dirty="0"/>
          </a:p>
        </p:txBody>
      </p:sp>
      <p:sp>
        <p:nvSpPr>
          <p:cNvPr id="8" name="Text 6"/>
          <p:cNvSpPr/>
          <p:nvPr/>
        </p:nvSpPr>
        <p:spPr>
          <a:xfrm>
            <a:off x="1143000" y="6788497"/>
            <a:ext cx="7411102" cy="912316"/>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444141"/>
                </a:solidFill>
                <a:latin typeface="Arial" pitchFamily="34" charset="0"/>
                <a:ea typeface="Arial" pitchFamily="34" charset="-122"/>
                <a:cs typeface="Arial" pitchFamily="34" charset="-120"/>
              </a:rPr>
              <a:t>Office pre-fill, the field walk-through, and the measurement schedule.</a:t>
            </a:r>
            <a:endParaRPr lang="en-US" sz="2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PART D</a:t>
            </a:r>
            <a:endParaRPr lang="en-US" sz="1800" dirty="0"/>
          </a:p>
        </p:txBody>
      </p:sp>
      <p:sp>
        <p:nvSpPr>
          <p:cNvPr id="3" name="Text 1"/>
          <p:cNvSpPr/>
          <p:nvPr/>
        </p:nvSpPr>
        <p:spPr>
          <a:xfrm>
            <a:off x="1143000" y="1573411"/>
            <a:ext cx="10303587" cy="1318022"/>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Office workflow — the qualification call</a:t>
            </a:r>
            <a:endParaRPr lang="en-US" sz="4800" dirty="0"/>
          </a:p>
        </p:txBody>
      </p:sp>
      <p:sp>
        <p:nvSpPr>
          <p:cNvPr id="4" name="Text 2"/>
          <p:cNvSpPr/>
          <p:nvPr/>
        </p:nvSpPr>
        <p:spPr>
          <a:xfrm>
            <a:off x="1143000" y="3348633"/>
            <a:ext cx="742950" cy="539948"/>
          </a:xfrm>
          <a:prstGeom prst="rect">
            <a:avLst/>
          </a:prstGeom>
          <a:noFill/>
          <a:ln/>
        </p:spPr>
        <p:txBody>
          <a:bodyPr wrap="square" lIns="25400" tIns="25400" rIns="25400" bIns="25400" rtlCol="0" anchor="t">
            <a:normAutofit/>
          </a:bodyPr>
          <a:lstStyle/>
          <a:p>
            <a:pPr algn="l" indent="0" marL="0">
              <a:lnSpc>
                <a:spcPct val="135128"/>
              </a:lnSpc>
              <a:buNone/>
            </a:pPr>
            <a:r>
              <a:rPr lang="en-US" sz="2550" dirty="0">
                <a:solidFill>
                  <a:srgbClr val="006786"/>
                </a:solidFill>
                <a:latin typeface="Arial" pitchFamily="34" charset="0"/>
                <a:ea typeface="Arial" pitchFamily="34" charset="-122"/>
                <a:cs typeface="Arial" pitchFamily="34" charset="-120"/>
              </a:rPr>
              <a:t>1</a:t>
            </a:r>
            <a:endParaRPr lang="en-US" sz="2550" dirty="0"/>
          </a:p>
        </p:txBody>
      </p:sp>
      <p:sp>
        <p:nvSpPr>
          <p:cNvPr id="5" name="Text 3"/>
          <p:cNvSpPr/>
          <p:nvPr/>
        </p:nvSpPr>
        <p:spPr>
          <a:xfrm>
            <a:off x="2114550" y="3386733"/>
            <a:ext cx="7927086" cy="1349425"/>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New inspection, stage </a:t>
            </a:r>
            <a:pPr algn="l" indent="0" marL="0">
              <a:lnSpc>
                <a:spcPct val="117692"/>
              </a:lnSpc>
              <a:buNone/>
            </a:pPr>
            <a:r>
              <a:rPr lang="en-US" sz="2550" i="1" dirty="0">
                <a:solidFill>
                  <a:srgbClr val="201E1D"/>
                </a:solidFill>
                <a:latin typeface="Arial" pitchFamily="34" charset="0"/>
                <a:ea typeface="Arial" pitchFamily="34" charset="-122"/>
                <a:cs typeface="Arial" pitchFamily="34" charset="-120"/>
              </a:rPr>
              <a:t>01 Office </a:t>
            </a:r>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 Fill Section 01 — HubSpot deal name, client, property, both contacts.</a:t>
            </a:r>
            <a:endParaRPr lang="en-US" sz="2550" dirty="0"/>
          </a:p>
        </p:txBody>
      </p:sp>
      <p:sp>
        <p:nvSpPr>
          <p:cNvPr id="6" name="Text 4"/>
          <p:cNvSpPr/>
          <p:nvPr/>
        </p:nvSpPr>
        <p:spPr>
          <a:xfrm>
            <a:off x="1143000" y="5040957"/>
            <a:ext cx="742950" cy="539948"/>
          </a:xfrm>
          <a:prstGeom prst="rect">
            <a:avLst/>
          </a:prstGeom>
          <a:noFill/>
          <a:ln/>
        </p:spPr>
        <p:txBody>
          <a:bodyPr wrap="square" lIns="25400" tIns="25400" rIns="25400" bIns="25400" rtlCol="0" anchor="t">
            <a:normAutofit/>
          </a:bodyPr>
          <a:lstStyle/>
          <a:p>
            <a:pPr algn="l" indent="0" marL="0">
              <a:lnSpc>
                <a:spcPct val="135128"/>
              </a:lnSpc>
              <a:buNone/>
            </a:pPr>
            <a:r>
              <a:rPr lang="en-US" sz="2550" dirty="0">
                <a:solidFill>
                  <a:srgbClr val="006786"/>
                </a:solidFill>
                <a:latin typeface="Arial" pitchFamily="34" charset="0"/>
                <a:ea typeface="Arial" pitchFamily="34" charset="-122"/>
                <a:cs typeface="Arial" pitchFamily="34" charset="-120"/>
              </a:rPr>
              <a:t>2</a:t>
            </a:r>
            <a:endParaRPr lang="en-US" sz="2550" dirty="0"/>
          </a:p>
        </p:txBody>
      </p:sp>
      <p:sp>
        <p:nvSpPr>
          <p:cNvPr id="7" name="Text 5"/>
          <p:cNvSpPr/>
          <p:nvPr/>
        </p:nvSpPr>
        <p:spPr>
          <a:xfrm>
            <a:off x="2114550" y="5079057"/>
            <a:ext cx="7927086" cy="912316"/>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Paste the property listing URL, and upload any floor plans into Section 11.</a:t>
            </a:r>
            <a:endParaRPr lang="en-US" sz="2550" dirty="0"/>
          </a:p>
        </p:txBody>
      </p:sp>
      <p:sp>
        <p:nvSpPr>
          <p:cNvPr id="8" name="Text 6"/>
          <p:cNvSpPr/>
          <p:nvPr/>
        </p:nvSpPr>
        <p:spPr>
          <a:xfrm>
            <a:off x="1143000" y="6296174"/>
            <a:ext cx="742950" cy="539948"/>
          </a:xfrm>
          <a:prstGeom prst="rect">
            <a:avLst/>
          </a:prstGeom>
          <a:noFill/>
          <a:ln/>
        </p:spPr>
        <p:txBody>
          <a:bodyPr wrap="square" lIns="25400" tIns="25400" rIns="25400" bIns="25400" rtlCol="0" anchor="t">
            <a:normAutofit/>
          </a:bodyPr>
          <a:lstStyle/>
          <a:p>
            <a:pPr algn="l" indent="0" marL="0">
              <a:lnSpc>
                <a:spcPct val="135128"/>
              </a:lnSpc>
              <a:buNone/>
            </a:pPr>
            <a:r>
              <a:rPr lang="en-US" sz="2550" dirty="0">
                <a:solidFill>
                  <a:srgbClr val="006786"/>
                </a:solidFill>
                <a:latin typeface="Arial" pitchFamily="34" charset="0"/>
                <a:ea typeface="Arial" pitchFamily="34" charset="-122"/>
                <a:cs typeface="Arial" pitchFamily="34" charset="-120"/>
              </a:rPr>
              <a:t>3</a:t>
            </a:r>
            <a:endParaRPr lang="en-US" sz="2550" dirty="0"/>
          </a:p>
        </p:txBody>
      </p:sp>
      <p:sp>
        <p:nvSpPr>
          <p:cNvPr id="9" name="Text 7"/>
          <p:cNvSpPr/>
          <p:nvPr/>
        </p:nvSpPr>
        <p:spPr>
          <a:xfrm>
            <a:off x="2114550" y="6334274"/>
            <a:ext cx="8465820" cy="475208"/>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Change the stage to </a:t>
            </a:r>
            <a:pPr algn="l" indent="0" marL="0">
              <a:lnSpc>
                <a:spcPct val="117692"/>
              </a:lnSpc>
              <a:buNone/>
            </a:pPr>
            <a:r>
              <a:rPr lang="en-US" sz="2550" i="1" dirty="0">
                <a:solidFill>
                  <a:srgbClr val="201E1D"/>
                </a:solidFill>
                <a:latin typeface="Arial" pitchFamily="34" charset="0"/>
                <a:ea typeface="Arial" pitchFamily="34" charset="-122"/>
                <a:cs typeface="Arial" pitchFamily="34" charset="-120"/>
              </a:rPr>
              <a:t>02 Field</a:t>
            </a:r>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 then tap </a:t>
            </a:r>
            <a:pPr algn="l" indent="0" marL="0">
              <a:lnSpc>
                <a:spcPct val="117692"/>
              </a:lnSpc>
              <a:buNone/>
            </a:pPr>
            <a:r>
              <a:rPr lang="en-US" sz="2550" i="1" dirty="0">
                <a:solidFill>
                  <a:srgbClr val="201E1D"/>
                </a:solidFill>
                <a:latin typeface="Arial" pitchFamily="34" charset="0"/>
                <a:ea typeface="Arial" pitchFamily="34" charset="-122"/>
                <a:cs typeface="Arial" pitchFamily="34" charset="-120"/>
              </a:rPr>
              <a:t>Share draft</a:t>
            </a:r>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a:t>
            </a:r>
            <a:endParaRPr lang="en-US" sz="2550" dirty="0"/>
          </a:p>
        </p:txBody>
      </p:sp>
      <p:sp>
        <p:nvSpPr>
          <p:cNvPr id="10" name="Text 8"/>
          <p:cNvSpPr/>
          <p:nvPr/>
        </p:nvSpPr>
        <p:spPr>
          <a:xfrm>
            <a:off x="1143000" y="7140922"/>
            <a:ext cx="742950" cy="539948"/>
          </a:xfrm>
          <a:prstGeom prst="rect">
            <a:avLst/>
          </a:prstGeom>
          <a:noFill/>
          <a:ln/>
        </p:spPr>
        <p:txBody>
          <a:bodyPr wrap="square" lIns="25400" tIns="25400" rIns="25400" bIns="25400" rtlCol="0" anchor="t">
            <a:normAutofit/>
          </a:bodyPr>
          <a:lstStyle/>
          <a:p>
            <a:pPr algn="l" indent="0" marL="0">
              <a:lnSpc>
                <a:spcPct val="135128"/>
              </a:lnSpc>
              <a:buNone/>
            </a:pPr>
            <a:r>
              <a:rPr lang="en-US" sz="2550" dirty="0">
                <a:solidFill>
                  <a:srgbClr val="006786"/>
                </a:solidFill>
                <a:latin typeface="Arial" pitchFamily="34" charset="0"/>
                <a:ea typeface="Arial" pitchFamily="34" charset="-122"/>
                <a:cs typeface="Arial" pitchFamily="34" charset="-120"/>
              </a:rPr>
              <a:t>4</a:t>
            </a:r>
            <a:endParaRPr lang="en-US" sz="2550" dirty="0"/>
          </a:p>
        </p:txBody>
      </p:sp>
      <p:sp>
        <p:nvSpPr>
          <p:cNvPr id="11" name="Text 9"/>
          <p:cNvSpPr/>
          <p:nvPr/>
        </p:nvSpPr>
        <p:spPr>
          <a:xfrm>
            <a:off x="2114550" y="7179022"/>
            <a:ext cx="7927086" cy="912316"/>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Follow the five-step handover ritual in the Handover and Version Control Protocol.</a:t>
            </a:r>
            <a:endParaRPr lang="en-US" sz="2550" dirty="0"/>
          </a:p>
        </p:txBody>
      </p:sp>
      <p:sp>
        <p:nvSpPr>
          <p:cNvPr id="12" name="Text 10"/>
          <p:cNvSpPr/>
          <p:nvPr/>
        </p:nvSpPr>
        <p:spPr>
          <a:xfrm>
            <a:off x="10953750" y="3348633"/>
            <a:ext cx="6376988" cy="4742706"/>
          </a:xfrm>
          <a:prstGeom prst="rect">
            <a:avLst/>
          </a:prstGeom>
          <a:noFill/>
          <a:ln/>
        </p:spPr>
        <p:txBody>
          <a:bodyPr wrap="square" lIns="25400" tIns="25400" rIns="25400" bIns="25400" rtlCol="0" anchor="t">
            <a:normAutofit/>
          </a:bodyPr>
          <a:lstStyle/>
          <a:p>
            <a:pPr algn="l" indent="0" marL="0">
              <a:lnSpc>
                <a:spcPct val="114400"/>
              </a:lnSpc>
              <a:buNone/>
            </a:pPr>
            <a:r>
              <a:rPr lang="en-US" sz="3300" i="1" dirty="0">
                <a:solidFill>
                  <a:srgbClr val="444141"/>
                </a:solidFill>
                <a:latin typeface="Arial" pitchFamily="34" charset="0"/>
                <a:ea typeface="Arial" pitchFamily="34" charset="-122"/>
                <a:cs typeface="Arial" pitchFamily="34" charset="-120"/>
              </a:rPr>
              <a:t>This is the stage to do it — there is signal at a desk.</a:t>
            </a:r>
            <a:endParaRPr lang="en-US" sz="3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PART D</a:t>
            </a:r>
            <a:endParaRPr lang="en-US" sz="1800" dirty="0"/>
          </a:p>
        </p:txBody>
      </p:sp>
      <p:sp>
        <p:nvSpPr>
          <p:cNvPr id="3" name="Text 1"/>
          <p:cNvSpPr/>
          <p:nvPr/>
        </p:nvSpPr>
        <p:spPr>
          <a:xfrm>
            <a:off x="1143000" y="1573411"/>
            <a:ext cx="11003831"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Field workflow — a day on site</a:t>
            </a:r>
            <a:endParaRPr lang="en-US" sz="4800" dirty="0"/>
          </a:p>
        </p:txBody>
      </p:sp>
      <p:sp>
        <p:nvSpPr>
          <p:cNvPr id="4" name="Text 2"/>
          <p:cNvSpPr/>
          <p:nvPr/>
        </p:nvSpPr>
        <p:spPr>
          <a:xfrm>
            <a:off x="1143000" y="2737247"/>
            <a:ext cx="1885950" cy="864691"/>
          </a:xfrm>
          <a:prstGeom prst="rect">
            <a:avLst/>
          </a:prstGeom>
          <a:noFill/>
          <a:ln/>
        </p:spPr>
        <p:txBody>
          <a:bodyPr wrap="square" lIns="25400" tIns="25400" rIns="25400" bIns="25400" rtlCol="0" anchor="t">
            <a:normAutofit/>
          </a:bodyPr>
          <a:lstStyle/>
          <a:p>
            <a:pPr algn="l" indent="0" marL="0">
              <a:lnSpc>
                <a:spcPct val="135625"/>
              </a:lnSpc>
              <a:buNone/>
            </a:pPr>
            <a:r>
              <a:rPr lang="en-US" sz="2100" spc="168" kern="0" dirty="0">
                <a:solidFill>
                  <a:srgbClr val="7D7979"/>
                </a:solidFill>
                <a:latin typeface="Arial" pitchFamily="34" charset="0"/>
                <a:ea typeface="Arial" pitchFamily="34" charset="-122"/>
                <a:cs typeface="Arial" pitchFamily="34" charset="-120"/>
              </a:rPr>
              <a:t>ON ARRIVAL</a:t>
            </a:r>
            <a:endParaRPr lang="en-US" sz="2100" dirty="0"/>
          </a:p>
        </p:txBody>
      </p:sp>
      <p:sp>
        <p:nvSpPr>
          <p:cNvPr id="5" name="Text 3"/>
          <p:cNvSpPr/>
          <p:nvPr/>
        </p:nvSpPr>
        <p:spPr>
          <a:xfrm>
            <a:off x="3257550" y="2708672"/>
            <a:ext cx="5572506"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Import the draft, or start a new inspection for a walk-in job.</a:t>
            </a:r>
            <a:endParaRPr lang="en-US" sz="2550" dirty="0"/>
          </a:p>
        </p:txBody>
      </p:sp>
      <p:sp>
        <p:nvSpPr>
          <p:cNvPr id="6" name="Text 4"/>
          <p:cNvSpPr/>
          <p:nvPr/>
        </p:nvSpPr>
        <p:spPr>
          <a:xfrm>
            <a:off x="9620250" y="2737247"/>
            <a:ext cx="1885950" cy="864691"/>
          </a:xfrm>
          <a:prstGeom prst="rect">
            <a:avLst/>
          </a:prstGeom>
          <a:noFill/>
          <a:ln/>
        </p:spPr>
        <p:txBody>
          <a:bodyPr wrap="square" lIns="25400" tIns="25400" rIns="25400" bIns="25400" rtlCol="0" anchor="t">
            <a:normAutofit/>
          </a:bodyPr>
          <a:lstStyle/>
          <a:p>
            <a:pPr algn="l" indent="0" marL="0">
              <a:lnSpc>
                <a:spcPct val="135625"/>
              </a:lnSpc>
              <a:buNone/>
            </a:pPr>
            <a:r>
              <a:rPr lang="en-US" sz="2100" spc="168" kern="0" dirty="0">
                <a:solidFill>
                  <a:srgbClr val="7D7979"/>
                </a:solidFill>
                <a:latin typeface="Arial" pitchFamily="34" charset="0"/>
                <a:ea typeface="Arial" pitchFamily="34" charset="-122"/>
                <a:cs typeface="Arial" pitchFamily="34" charset="-120"/>
              </a:rPr>
              <a:t>WALKING THE JOB</a:t>
            </a:r>
            <a:endParaRPr lang="en-US" sz="2100" dirty="0"/>
          </a:p>
        </p:txBody>
      </p:sp>
      <p:sp>
        <p:nvSpPr>
          <p:cNvPr id="7" name="Text 5"/>
          <p:cNvSpPr/>
          <p:nvPr/>
        </p:nvSpPr>
        <p:spPr>
          <a:xfrm>
            <a:off x="11734800" y="2708672"/>
            <a:ext cx="5572506"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Work through Sections 02 to 06. Blank fields are fine.</a:t>
            </a:r>
            <a:endParaRPr lang="en-US" sz="2550" dirty="0"/>
          </a:p>
        </p:txBody>
      </p:sp>
      <p:sp>
        <p:nvSpPr>
          <p:cNvPr id="8" name="Text 6"/>
          <p:cNvSpPr/>
          <p:nvPr/>
        </p:nvSpPr>
        <p:spPr>
          <a:xfrm>
            <a:off x="1143000" y="4125813"/>
            <a:ext cx="1885950" cy="864691"/>
          </a:xfrm>
          <a:prstGeom prst="rect">
            <a:avLst/>
          </a:prstGeom>
          <a:noFill/>
          <a:ln/>
        </p:spPr>
        <p:txBody>
          <a:bodyPr wrap="square" lIns="25400" tIns="25400" rIns="25400" bIns="25400" rtlCol="0" anchor="t">
            <a:normAutofit/>
          </a:bodyPr>
          <a:lstStyle/>
          <a:p>
            <a:pPr algn="l" indent="0" marL="0">
              <a:lnSpc>
                <a:spcPct val="135625"/>
              </a:lnSpc>
              <a:buNone/>
            </a:pPr>
            <a:r>
              <a:rPr lang="en-US" sz="2100" spc="168" kern="0" dirty="0">
                <a:solidFill>
                  <a:srgbClr val="7D7979"/>
                </a:solidFill>
                <a:latin typeface="Arial" pitchFamily="34" charset="0"/>
                <a:ea typeface="Arial" pitchFamily="34" charset="-122"/>
                <a:cs typeface="Arial" pitchFamily="34" charset="-120"/>
              </a:rPr>
              <a:t>NEVER SKIPPED</a:t>
            </a:r>
            <a:endParaRPr lang="en-US" sz="2100" dirty="0"/>
          </a:p>
        </p:txBody>
      </p:sp>
      <p:sp>
        <p:nvSpPr>
          <p:cNvPr id="9" name="Text 7"/>
          <p:cNvSpPr/>
          <p:nvPr/>
        </p:nvSpPr>
        <p:spPr>
          <a:xfrm>
            <a:off x="3257550" y="4097238"/>
            <a:ext cx="5572506"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Section 03A — asbestos likelihood, hazards, access, discharge point.</a:t>
            </a:r>
            <a:endParaRPr lang="en-US" sz="2550" dirty="0"/>
          </a:p>
        </p:txBody>
      </p:sp>
      <p:sp>
        <p:nvSpPr>
          <p:cNvPr id="10" name="Text 8"/>
          <p:cNvSpPr/>
          <p:nvPr/>
        </p:nvSpPr>
        <p:spPr>
          <a:xfrm>
            <a:off x="9620250" y="4125813"/>
            <a:ext cx="1990725" cy="451396"/>
          </a:xfrm>
          <a:prstGeom prst="rect">
            <a:avLst/>
          </a:prstGeom>
          <a:noFill/>
          <a:ln/>
        </p:spPr>
        <p:txBody>
          <a:bodyPr wrap="square" lIns="25400" tIns="25400" rIns="25400" bIns="25400" rtlCol="0" anchor="t">
            <a:normAutofit/>
          </a:bodyPr>
          <a:lstStyle/>
          <a:p>
            <a:pPr algn="l" indent="0" marL="0">
              <a:lnSpc>
                <a:spcPct val="135625"/>
              </a:lnSpc>
              <a:buNone/>
            </a:pPr>
            <a:r>
              <a:rPr lang="en-US" sz="2100" spc="168" kern="0" dirty="0">
                <a:solidFill>
                  <a:srgbClr val="7D7979"/>
                </a:solidFill>
                <a:latin typeface="Arial" pitchFamily="34" charset="0"/>
                <a:ea typeface="Arial" pitchFamily="34" charset="-122"/>
                <a:cs typeface="Arial" pitchFamily="34" charset="-120"/>
              </a:rPr>
              <a:t>PHOTOS</a:t>
            </a:r>
            <a:endParaRPr lang="en-US" sz="2100" dirty="0"/>
          </a:p>
        </p:txBody>
      </p:sp>
      <p:sp>
        <p:nvSpPr>
          <p:cNvPr id="11" name="Text 9"/>
          <p:cNvSpPr/>
          <p:nvPr/>
        </p:nvSpPr>
        <p:spPr>
          <a:xfrm>
            <a:off x="11734800" y="4097238"/>
            <a:ext cx="5572506"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Shoot in the Camera app, then attach to the right field.</a:t>
            </a:r>
            <a:endParaRPr lang="en-US" sz="2550" dirty="0"/>
          </a:p>
        </p:txBody>
      </p:sp>
      <p:sp>
        <p:nvSpPr>
          <p:cNvPr id="12" name="Text 10"/>
          <p:cNvSpPr/>
          <p:nvPr/>
        </p:nvSpPr>
        <p:spPr>
          <a:xfrm>
            <a:off x="1143000" y="5514380"/>
            <a:ext cx="1990725" cy="451396"/>
          </a:xfrm>
          <a:prstGeom prst="rect">
            <a:avLst/>
          </a:prstGeom>
          <a:noFill/>
          <a:ln/>
        </p:spPr>
        <p:txBody>
          <a:bodyPr wrap="square" lIns="25400" tIns="25400" rIns="25400" bIns="25400" rtlCol="0" anchor="t">
            <a:normAutofit/>
          </a:bodyPr>
          <a:lstStyle/>
          <a:p>
            <a:pPr algn="l" indent="0" marL="0">
              <a:lnSpc>
                <a:spcPct val="135625"/>
              </a:lnSpc>
              <a:buNone/>
            </a:pPr>
            <a:r>
              <a:rPr lang="en-US" sz="2100" spc="168" kern="0" dirty="0">
                <a:solidFill>
                  <a:srgbClr val="7D7979"/>
                </a:solidFill>
                <a:latin typeface="Arial" pitchFamily="34" charset="0"/>
                <a:ea typeface="Arial" pitchFamily="34" charset="-122"/>
                <a:cs typeface="Arial" pitchFamily="34" charset="-120"/>
              </a:rPr>
              <a:t>PAUSING</a:t>
            </a:r>
            <a:endParaRPr lang="en-US" sz="2100" dirty="0"/>
          </a:p>
        </p:txBody>
      </p:sp>
      <p:sp>
        <p:nvSpPr>
          <p:cNvPr id="13" name="Text 11"/>
          <p:cNvSpPr/>
          <p:nvPr/>
        </p:nvSpPr>
        <p:spPr>
          <a:xfrm>
            <a:off x="3257550" y="5485805"/>
            <a:ext cx="5572506"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Just leave. Resume from the list whenever you like.</a:t>
            </a:r>
            <a:endParaRPr lang="en-US" sz="2550" dirty="0"/>
          </a:p>
        </p:txBody>
      </p:sp>
      <p:sp>
        <p:nvSpPr>
          <p:cNvPr id="14" name="Text 12"/>
          <p:cNvSpPr/>
          <p:nvPr/>
        </p:nvSpPr>
        <p:spPr>
          <a:xfrm>
            <a:off x="9620250" y="5514380"/>
            <a:ext cx="1885950" cy="864691"/>
          </a:xfrm>
          <a:prstGeom prst="rect">
            <a:avLst/>
          </a:prstGeom>
          <a:noFill/>
          <a:ln/>
        </p:spPr>
        <p:txBody>
          <a:bodyPr wrap="square" lIns="25400" tIns="25400" rIns="25400" bIns="25400" rtlCol="0" anchor="t">
            <a:normAutofit/>
          </a:bodyPr>
          <a:lstStyle/>
          <a:p>
            <a:pPr algn="l" indent="0" marL="0">
              <a:lnSpc>
                <a:spcPct val="135625"/>
              </a:lnSpc>
              <a:buNone/>
            </a:pPr>
            <a:r>
              <a:rPr lang="en-US" sz="2100" spc="168" kern="0" dirty="0">
                <a:solidFill>
                  <a:srgbClr val="7D7979"/>
                </a:solidFill>
                <a:latin typeface="Arial" pitchFamily="34" charset="0"/>
                <a:ea typeface="Arial" pitchFamily="34" charset="-122"/>
                <a:cs typeface="Arial" pitchFamily="34" charset="-120"/>
              </a:rPr>
              <a:t>BEFORE HANDOVER</a:t>
            </a:r>
            <a:endParaRPr lang="en-US" sz="2100" dirty="0"/>
          </a:p>
        </p:txBody>
      </p:sp>
      <p:sp>
        <p:nvSpPr>
          <p:cNvPr id="15" name="Text 13"/>
          <p:cNvSpPr/>
          <p:nvPr/>
        </p:nvSpPr>
        <p:spPr>
          <a:xfrm>
            <a:off x="11734800" y="5485805"/>
            <a:ext cx="5572506"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Check the photos have uploaded, then set the stage to </a:t>
            </a:r>
            <a:pPr algn="l" indent="0" marL="0">
              <a:lnSpc>
                <a:spcPct val="113333"/>
              </a:lnSpc>
              <a:buNone/>
            </a:pPr>
            <a:r>
              <a:rPr lang="en-US" sz="2550" i="1" dirty="0">
                <a:solidFill>
                  <a:srgbClr val="201E1D"/>
                </a:solidFill>
                <a:latin typeface="Arial" pitchFamily="34" charset="0"/>
                <a:ea typeface="Arial" pitchFamily="34" charset="-122"/>
                <a:cs typeface="Arial" pitchFamily="34" charset="-120"/>
              </a:rPr>
              <a:t>03 Technical</a:t>
            </a:r>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a:t>
            </a:r>
            <a:endParaRPr lang="en-US" sz="2550" dirty="0"/>
          </a:p>
        </p:txBody>
      </p:sp>
      <p:sp>
        <p:nvSpPr>
          <p:cNvPr id="16" name="Text 14"/>
          <p:cNvSpPr/>
          <p:nvPr/>
        </p:nvSpPr>
        <p:spPr>
          <a:xfrm>
            <a:off x="1143000" y="6760071"/>
            <a:ext cx="17602200" cy="475208"/>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444141"/>
                </a:solidFill>
                <a:latin typeface="Arial" pitchFamily="34" charset="0"/>
                <a:ea typeface="Arial" pitchFamily="34" charset="-122"/>
                <a:cs typeface="Arial" pitchFamily="34" charset="-120"/>
              </a:rPr>
              <a:t>Watch for </a:t>
            </a:r>
            <a:pPr algn="l" indent="0" marL="0">
              <a:lnSpc>
                <a:spcPct val="117692"/>
              </a:lnSpc>
              <a:buNone/>
            </a:pPr>
            <a:r>
              <a:rPr lang="en-US" sz="2550" i="1" dirty="0">
                <a:solidFill>
                  <a:srgbClr val="444141"/>
                </a:solidFill>
                <a:latin typeface="Arial" pitchFamily="34" charset="0"/>
                <a:ea typeface="Arial" pitchFamily="34" charset="-122"/>
                <a:cs typeface="Arial" pitchFamily="34" charset="-120"/>
              </a:rPr>
              <a:t>“Saved [time]” </a:t>
            </a:r>
            <a:pPr algn="l" indent="0" marL="0">
              <a:lnSpc>
                <a:spcPct val="117692"/>
              </a:lnSpc>
              <a:buNone/>
            </a:pPr>
            <a:r>
              <a:rPr lang="en-US" sz="2550" dirty="0">
                <a:solidFill>
                  <a:srgbClr val="444141"/>
                </a:solidFill>
                <a:latin typeface="Arial" pitchFamily="34" charset="0"/>
                <a:ea typeface="Arial" pitchFamily="34" charset="-122"/>
                <a:cs typeface="Arial" pitchFamily="34" charset="-120"/>
              </a:rPr>
              <a:t>in the top bar — that is the app confirming it has everything.</a:t>
            </a:r>
            <a:endParaRPr lang="en-US" sz="2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PART D</a:t>
            </a:r>
            <a:endParaRPr lang="en-US" sz="1800" dirty="0"/>
          </a:p>
        </p:txBody>
      </p:sp>
      <p:sp>
        <p:nvSpPr>
          <p:cNvPr id="3" name="Text 1"/>
          <p:cNvSpPr/>
          <p:nvPr/>
        </p:nvSpPr>
        <p:spPr>
          <a:xfrm>
            <a:off x="1143000" y="1573411"/>
            <a:ext cx="11003831"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Seeing what is still empty</a:t>
            </a:r>
            <a:endParaRPr lang="en-US" sz="4800" dirty="0"/>
          </a:p>
        </p:txBody>
      </p:sp>
      <p:sp>
        <p:nvSpPr>
          <p:cNvPr id="4" name="Shape 2"/>
          <p:cNvSpPr/>
          <p:nvPr/>
        </p:nvSpPr>
        <p:spPr>
          <a:xfrm>
            <a:off x="1143000" y="3086695"/>
            <a:ext cx="246162" cy="247650"/>
          </a:xfrm>
          <a:prstGeom prst="roundRect">
            <a:avLst>
              <a:gd name="adj" fmla="val 7739"/>
            </a:avLst>
          </a:prstGeom>
          <a:solidFill>
            <a:srgbClr val="3F8F57"/>
          </a:solidFill>
          <a:ln/>
        </p:spPr>
      </p:sp>
      <p:sp>
        <p:nvSpPr>
          <p:cNvPr id="5" name="Text 3"/>
          <p:cNvSpPr/>
          <p:nvPr/>
        </p:nvSpPr>
        <p:spPr>
          <a:xfrm>
            <a:off x="1579662" y="2708672"/>
            <a:ext cx="2116038" cy="1041797"/>
          </a:xfrm>
          <a:prstGeom prst="rect">
            <a:avLst/>
          </a:prstGeom>
          <a:noFill/>
          <a:ln/>
        </p:spPr>
        <p:txBody>
          <a:bodyPr wrap="square" lIns="25400" tIns="25400" rIns="25400" bIns="25400" rtlCol="0" anchor="t">
            <a:normAutofit/>
          </a:bodyPr>
          <a:lstStyle/>
          <a:p>
            <a:pPr algn="l" indent="0" marL="0">
              <a:lnSpc>
                <a:spcPct val="135128"/>
              </a:lnSpc>
              <a:buNone/>
            </a:pPr>
            <a:r>
              <a:rPr lang="en-US" sz="2550" dirty="0">
                <a:solidFill>
                  <a:srgbClr val="201E1D"/>
                </a:solidFill>
                <a:latin typeface="Arial" pitchFamily="34" charset="0"/>
                <a:ea typeface="Arial" pitchFamily="34" charset="-122"/>
                <a:cs typeface="Arial" pitchFamily="34" charset="-120"/>
              </a:rPr>
              <a:t>Green, ticked</a:t>
            </a:r>
            <a:endParaRPr lang="en-US" sz="2550" dirty="0"/>
          </a:p>
        </p:txBody>
      </p:sp>
      <p:sp>
        <p:nvSpPr>
          <p:cNvPr id="6" name="Text 4"/>
          <p:cNvSpPr/>
          <p:nvPr/>
        </p:nvSpPr>
        <p:spPr>
          <a:xfrm>
            <a:off x="4076700" y="3010495"/>
            <a:ext cx="10713339"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444141"/>
                </a:solidFill>
                <a:latin typeface="Arial" pitchFamily="34" charset="0"/>
                <a:ea typeface="Arial" pitchFamily="34" charset="-122"/>
                <a:cs typeface="Arial" pitchFamily="34" charset="-120"/>
              </a:rPr>
              <a:t>The field has content. For photo blocks, at least one photo is attached.</a:t>
            </a:r>
            <a:endParaRPr lang="en-US" sz="2550" dirty="0"/>
          </a:p>
        </p:txBody>
      </p:sp>
      <p:sp>
        <p:nvSpPr>
          <p:cNvPr id="7" name="Shape 5"/>
          <p:cNvSpPr/>
          <p:nvPr/>
        </p:nvSpPr>
        <p:spPr>
          <a:xfrm>
            <a:off x="1143000" y="4265116"/>
            <a:ext cx="247650" cy="247650"/>
          </a:xfrm>
          <a:prstGeom prst="roundRect">
            <a:avLst>
              <a:gd name="adj" fmla="val 7692"/>
            </a:avLst>
          </a:prstGeom>
          <a:solidFill>
            <a:srgbClr val="BAB6B6"/>
          </a:solidFill>
          <a:ln/>
        </p:spPr>
      </p:sp>
      <p:sp>
        <p:nvSpPr>
          <p:cNvPr id="8" name="Text 6"/>
          <p:cNvSpPr/>
          <p:nvPr/>
        </p:nvSpPr>
        <p:spPr>
          <a:xfrm>
            <a:off x="1581150" y="4138017"/>
            <a:ext cx="813941" cy="539948"/>
          </a:xfrm>
          <a:prstGeom prst="rect">
            <a:avLst/>
          </a:prstGeom>
          <a:noFill/>
          <a:ln/>
        </p:spPr>
        <p:txBody>
          <a:bodyPr wrap="square" lIns="25400" tIns="25400" rIns="25400" bIns="25400" rtlCol="0" anchor="t">
            <a:normAutofit/>
          </a:bodyPr>
          <a:lstStyle/>
          <a:p>
            <a:pPr algn="l" indent="0" marL="0">
              <a:lnSpc>
                <a:spcPct val="135128"/>
              </a:lnSpc>
              <a:buNone/>
            </a:pPr>
            <a:r>
              <a:rPr lang="en-US" sz="2550" dirty="0">
                <a:solidFill>
                  <a:srgbClr val="201E1D"/>
                </a:solidFill>
                <a:latin typeface="Arial" pitchFamily="34" charset="0"/>
                <a:ea typeface="Arial" pitchFamily="34" charset="-122"/>
                <a:cs typeface="Arial" pitchFamily="34" charset="-120"/>
              </a:rPr>
              <a:t>Grey</a:t>
            </a:r>
            <a:endParaRPr lang="en-US" sz="2550" dirty="0"/>
          </a:p>
        </p:txBody>
      </p:sp>
      <p:sp>
        <p:nvSpPr>
          <p:cNvPr id="9" name="Text 7"/>
          <p:cNvSpPr/>
          <p:nvPr/>
        </p:nvSpPr>
        <p:spPr>
          <a:xfrm>
            <a:off x="4076700" y="4188916"/>
            <a:ext cx="10713339"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444141"/>
                </a:solidFill>
                <a:latin typeface="Arial" pitchFamily="34" charset="0"/>
                <a:ea typeface="Arial" pitchFamily="34" charset="-122"/>
                <a:cs typeface="Arial" pitchFamily="34" charset="-120"/>
              </a:rPr>
              <a:t>Nothing entered — often perfectly correct, which is why grey stays quiet.</a:t>
            </a:r>
            <a:endParaRPr lang="en-US" sz="2550" dirty="0"/>
          </a:p>
        </p:txBody>
      </p:sp>
      <p:sp>
        <p:nvSpPr>
          <p:cNvPr id="10" name="Shape 8"/>
          <p:cNvSpPr/>
          <p:nvPr/>
        </p:nvSpPr>
        <p:spPr>
          <a:xfrm>
            <a:off x="1143000" y="5443538"/>
            <a:ext cx="247650" cy="247650"/>
          </a:xfrm>
          <a:prstGeom prst="roundRect">
            <a:avLst>
              <a:gd name="adj" fmla="val 7692"/>
            </a:avLst>
          </a:prstGeom>
          <a:solidFill>
            <a:srgbClr val="EDBB00"/>
          </a:solidFill>
          <a:ln/>
        </p:spPr>
      </p:sp>
      <p:sp>
        <p:nvSpPr>
          <p:cNvPr id="11" name="Text 9"/>
          <p:cNvSpPr/>
          <p:nvPr/>
        </p:nvSpPr>
        <p:spPr>
          <a:xfrm>
            <a:off x="1581150" y="5316438"/>
            <a:ext cx="1136898" cy="539948"/>
          </a:xfrm>
          <a:prstGeom prst="rect">
            <a:avLst/>
          </a:prstGeom>
          <a:noFill/>
          <a:ln/>
        </p:spPr>
        <p:txBody>
          <a:bodyPr wrap="square" lIns="25400" tIns="25400" rIns="25400" bIns="25400" rtlCol="0" anchor="t">
            <a:normAutofit/>
          </a:bodyPr>
          <a:lstStyle/>
          <a:p>
            <a:pPr algn="l" indent="0" marL="0">
              <a:lnSpc>
                <a:spcPct val="135128"/>
              </a:lnSpc>
              <a:buNone/>
            </a:pPr>
            <a:r>
              <a:rPr lang="en-US" sz="2550" dirty="0">
                <a:solidFill>
                  <a:srgbClr val="201E1D"/>
                </a:solidFill>
                <a:latin typeface="Arial" pitchFamily="34" charset="0"/>
                <a:ea typeface="Arial" pitchFamily="34" charset="-122"/>
                <a:cs typeface="Arial" pitchFamily="34" charset="-120"/>
              </a:rPr>
              <a:t>Amber</a:t>
            </a:r>
            <a:endParaRPr lang="en-US" sz="2550" dirty="0"/>
          </a:p>
        </p:txBody>
      </p:sp>
      <p:sp>
        <p:nvSpPr>
          <p:cNvPr id="12" name="Text 10"/>
          <p:cNvSpPr/>
          <p:nvPr/>
        </p:nvSpPr>
        <p:spPr>
          <a:xfrm>
            <a:off x="4076700" y="5367338"/>
            <a:ext cx="10713339"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444141"/>
                </a:solidFill>
                <a:latin typeface="Arial" pitchFamily="34" charset="0"/>
                <a:ea typeface="Arial" pitchFamily="34" charset="-122"/>
                <a:cs typeface="Arial" pitchFamily="34" charset="-120"/>
              </a:rPr>
              <a:t>Only when </a:t>
            </a:r>
            <a:pPr algn="l" indent="0" marL="0">
              <a:lnSpc>
                <a:spcPct val="113333"/>
              </a:lnSpc>
              <a:buNone/>
            </a:pPr>
            <a:r>
              <a:rPr lang="en-US" sz="2550" i="1" dirty="0">
                <a:solidFill>
                  <a:srgbClr val="444141"/>
                </a:solidFill>
                <a:latin typeface="Arial" pitchFamily="34" charset="0"/>
                <a:ea typeface="Arial" pitchFamily="34" charset="-122"/>
                <a:cs typeface="Arial" pitchFamily="34" charset="-120"/>
              </a:rPr>
              <a:t>Highlight gaps </a:t>
            </a:r>
            <a:pPr algn="l" indent="0" marL="0">
              <a:lnSpc>
                <a:spcPct val="113333"/>
              </a:lnSpc>
              <a:buNone/>
            </a:pPr>
            <a:r>
              <a:rPr lang="en-US" sz="2550" dirty="0">
                <a:solidFill>
                  <a:srgbClr val="444141"/>
                </a:solidFill>
                <a:latin typeface="Arial" pitchFamily="34" charset="0"/>
                <a:ea typeface="Arial" pitchFamily="34" charset="-122"/>
                <a:cs typeface="Arial" pitchFamily="34" charset="-120"/>
              </a:rPr>
              <a:t>is on. Use it when reviewing before handover.</a:t>
            </a:r>
            <a:endParaRPr lang="en-US" sz="2550" dirty="0"/>
          </a:p>
        </p:txBody>
      </p:sp>
      <p:sp>
        <p:nvSpPr>
          <p:cNvPr id="13" name="Text 11"/>
          <p:cNvSpPr/>
          <p:nvPr/>
        </p:nvSpPr>
        <p:spPr>
          <a:xfrm>
            <a:off x="1143000" y="8683228"/>
            <a:ext cx="10388664"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i="1" dirty="0">
                <a:solidFill>
                  <a:srgbClr val="201E1D"/>
                </a:solidFill>
                <a:latin typeface="Arial" pitchFamily="34" charset="0"/>
                <a:ea typeface="Arial" pitchFamily="34" charset="-122"/>
                <a:cs typeface="Arial" pitchFamily="34" charset="-120"/>
              </a:rPr>
              <a:t>Blank is not the same as wrong. The counts exist to find genuine gaps, not to be driven to 100%.</a:t>
            </a:r>
            <a:endParaRPr lang="en-US" sz="2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SECTION 07</a:t>
            </a:r>
            <a:endParaRPr lang="en-US" sz="1800" dirty="0"/>
          </a:p>
        </p:txBody>
      </p:sp>
      <p:sp>
        <p:nvSpPr>
          <p:cNvPr id="3" name="Text 1"/>
          <p:cNvSpPr/>
          <p:nvPr/>
        </p:nvSpPr>
        <p:spPr>
          <a:xfrm>
            <a:off x="1143000" y="1573411"/>
            <a:ext cx="11003831"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The measurement schedule</a:t>
            </a:r>
            <a:endParaRPr lang="en-US" sz="4800" dirty="0"/>
          </a:p>
        </p:txBody>
      </p:sp>
      <p:sp>
        <p:nvSpPr>
          <p:cNvPr id="4" name="Shape 2"/>
          <p:cNvSpPr/>
          <p:nvPr/>
        </p:nvSpPr>
        <p:spPr>
          <a:xfrm>
            <a:off x="1143000" y="3422005"/>
            <a:ext cx="3039070" cy="9525"/>
          </a:xfrm>
          <a:prstGeom prst="rect">
            <a:avLst/>
          </a:prstGeom>
          <a:solidFill>
            <a:srgbClr val="1F1F1F">
              <a:alpha val="16000"/>
            </a:srgbClr>
          </a:solidFill>
          <a:ln/>
        </p:spPr>
      </p:sp>
      <p:sp>
        <p:nvSpPr>
          <p:cNvPr id="5" name="Text 3"/>
          <p:cNvSpPr/>
          <p:nvPr/>
        </p:nvSpPr>
        <p:spPr>
          <a:xfrm>
            <a:off x="1143000" y="2861072"/>
            <a:ext cx="3130242" cy="446633"/>
          </a:xfrm>
          <a:prstGeom prst="rect">
            <a:avLst/>
          </a:prstGeom>
          <a:noFill/>
          <a:ln/>
        </p:spPr>
        <p:txBody>
          <a:bodyPr wrap="square" lIns="25400" tIns="25400" rIns="25400" bIns="25400" rtlCol="0" anchor="ctr">
            <a:normAutofit/>
          </a:bodyPr>
          <a:lstStyle/>
          <a:p>
            <a:pPr algn="l" indent="0" marL="0">
              <a:lnSpc>
                <a:spcPct val="135625"/>
              </a:lnSpc>
              <a:buNone/>
            </a:pPr>
            <a:r>
              <a:rPr lang="en-US" sz="2100" b="1" spc="168" kern="0" dirty="0">
                <a:solidFill>
                  <a:srgbClr val="201E1C">
                    <a:alpha val="60000"/>
                  </a:srgbClr>
                </a:solidFill>
                <a:latin typeface="Arial" pitchFamily="34" charset="0"/>
                <a:ea typeface="Arial" pitchFamily="34" charset="-122"/>
                <a:cs typeface="Arial" pitchFamily="34" charset="-120"/>
              </a:rPr>
              <a:t>FACE</a:t>
            </a:r>
            <a:endParaRPr lang="en-US" sz="2100" dirty="0"/>
          </a:p>
        </p:txBody>
      </p:sp>
      <p:sp>
        <p:nvSpPr>
          <p:cNvPr id="6" name="Shape 4"/>
          <p:cNvSpPr/>
          <p:nvPr/>
        </p:nvSpPr>
        <p:spPr>
          <a:xfrm>
            <a:off x="4182070" y="3422005"/>
            <a:ext cx="1513880" cy="9525"/>
          </a:xfrm>
          <a:prstGeom prst="rect">
            <a:avLst/>
          </a:prstGeom>
          <a:solidFill>
            <a:srgbClr val="1F1F1F">
              <a:alpha val="16000"/>
            </a:srgbClr>
          </a:solidFill>
          <a:ln/>
        </p:spPr>
      </p:sp>
      <p:sp>
        <p:nvSpPr>
          <p:cNvPr id="7" name="Text 5"/>
          <p:cNvSpPr/>
          <p:nvPr/>
        </p:nvSpPr>
        <p:spPr>
          <a:xfrm>
            <a:off x="4182070" y="2861072"/>
            <a:ext cx="1590080" cy="446633"/>
          </a:xfrm>
          <a:prstGeom prst="rect">
            <a:avLst/>
          </a:prstGeom>
          <a:noFill/>
          <a:ln/>
        </p:spPr>
        <p:txBody>
          <a:bodyPr wrap="square" lIns="25400" tIns="25400" rIns="25400" bIns="25400" rtlCol="0" anchor="ctr">
            <a:normAutofit/>
          </a:bodyPr>
          <a:lstStyle/>
          <a:p>
            <a:pPr algn="l" indent="0" marL="0">
              <a:lnSpc>
                <a:spcPct val="135625"/>
              </a:lnSpc>
              <a:buNone/>
            </a:pPr>
            <a:r>
              <a:rPr lang="en-US" sz="2100" b="1" spc="168" kern="0" dirty="0">
                <a:solidFill>
                  <a:srgbClr val="201E1C">
                    <a:alpha val="60000"/>
                  </a:srgbClr>
                </a:solidFill>
                <a:latin typeface="Arial" pitchFamily="34" charset="0"/>
                <a:ea typeface="Arial" pitchFamily="34" charset="-122"/>
                <a:cs typeface="Arial" pitchFamily="34" charset="-120"/>
              </a:rPr>
              <a:t>LENGTH</a:t>
            </a:r>
            <a:endParaRPr lang="en-US" sz="2100" dirty="0"/>
          </a:p>
        </p:txBody>
      </p:sp>
      <p:sp>
        <p:nvSpPr>
          <p:cNvPr id="8" name="Shape 6"/>
          <p:cNvSpPr/>
          <p:nvPr/>
        </p:nvSpPr>
        <p:spPr>
          <a:xfrm>
            <a:off x="5695950" y="3422005"/>
            <a:ext cx="1421160" cy="9525"/>
          </a:xfrm>
          <a:prstGeom prst="rect">
            <a:avLst/>
          </a:prstGeom>
          <a:solidFill>
            <a:srgbClr val="1F1F1F">
              <a:alpha val="16000"/>
            </a:srgbClr>
          </a:solidFill>
          <a:ln/>
        </p:spPr>
      </p:sp>
      <p:sp>
        <p:nvSpPr>
          <p:cNvPr id="9" name="Text 7"/>
          <p:cNvSpPr/>
          <p:nvPr/>
        </p:nvSpPr>
        <p:spPr>
          <a:xfrm>
            <a:off x="5695950" y="2861072"/>
            <a:ext cx="1497360" cy="446633"/>
          </a:xfrm>
          <a:prstGeom prst="rect">
            <a:avLst/>
          </a:prstGeom>
          <a:noFill/>
          <a:ln/>
        </p:spPr>
        <p:txBody>
          <a:bodyPr wrap="square" lIns="25400" tIns="25400" rIns="25400" bIns="25400" rtlCol="0" anchor="ctr">
            <a:normAutofit/>
          </a:bodyPr>
          <a:lstStyle/>
          <a:p>
            <a:pPr algn="l" indent="0" marL="0">
              <a:lnSpc>
                <a:spcPct val="135625"/>
              </a:lnSpc>
              <a:buNone/>
            </a:pPr>
            <a:r>
              <a:rPr lang="en-US" sz="2100" b="1" spc="168" kern="0" dirty="0">
                <a:solidFill>
                  <a:srgbClr val="201E1C">
                    <a:alpha val="60000"/>
                  </a:srgbClr>
                </a:solidFill>
                <a:latin typeface="Arial" pitchFamily="34" charset="0"/>
                <a:ea typeface="Arial" pitchFamily="34" charset="-122"/>
                <a:cs typeface="Arial" pitchFamily="34" charset="-120"/>
              </a:rPr>
              <a:t>HEIGHT</a:t>
            </a:r>
            <a:endParaRPr lang="en-US" sz="2100" dirty="0"/>
          </a:p>
        </p:txBody>
      </p:sp>
      <p:sp>
        <p:nvSpPr>
          <p:cNvPr id="10" name="Shape 8"/>
          <p:cNvSpPr/>
          <p:nvPr/>
        </p:nvSpPr>
        <p:spPr>
          <a:xfrm>
            <a:off x="7117110" y="3422005"/>
            <a:ext cx="1313706" cy="9525"/>
          </a:xfrm>
          <a:prstGeom prst="rect">
            <a:avLst/>
          </a:prstGeom>
          <a:solidFill>
            <a:srgbClr val="1F1F1F">
              <a:alpha val="16000"/>
            </a:srgbClr>
          </a:solidFill>
          <a:ln/>
        </p:spPr>
      </p:sp>
      <p:sp>
        <p:nvSpPr>
          <p:cNvPr id="11" name="Text 9"/>
          <p:cNvSpPr/>
          <p:nvPr/>
        </p:nvSpPr>
        <p:spPr>
          <a:xfrm>
            <a:off x="7117110" y="2861072"/>
            <a:ext cx="1389906" cy="446633"/>
          </a:xfrm>
          <a:prstGeom prst="rect">
            <a:avLst/>
          </a:prstGeom>
          <a:noFill/>
          <a:ln/>
        </p:spPr>
        <p:txBody>
          <a:bodyPr wrap="square" lIns="25400" tIns="25400" rIns="25400" bIns="25400" rtlCol="0" anchor="ctr">
            <a:normAutofit/>
          </a:bodyPr>
          <a:lstStyle/>
          <a:p>
            <a:pPr algn="l" indent="0" marL="0">
              <a:lnSpc>
                <a:spcPct val="135625"/>
              </a:lnSpc>
              <a:buNone/>
            </a:pPr>
            <a:r>
              <a:rPr lang="en-US" sz="2100" b="1" spc="168" kern="0" dirty="0">
                <a:solidFill>
                  <a:srgbClr val="201E1C">
                    <a:alpha val="60000"/>
                  </a:srgbClr>
                </a:solidFill>
                <a:latin typeface="Arial" pitchFamily="34" charset="0"/>
                <a:ea typeface="Arial" pitchFamily="34" charset="-122"/>
                <a:cs typeface="Arial" pitchFamily="34" charset="-120"/>
              </a:rPr>
              <a:t>AREA</a:t>
            </a:r>
            <a:endParaRPr lang="en-US" sz="2100" dirty="0"/>
          </a:p>
        </p:txBody>
      </p:sp>
      <p:sp>
        <p:nvSpPr>
          <p:cNvPr id="12" name="Shape 10"/>
          <p:cNvSpPr/>
          <p:nvPr/>
        </p:nvSpPr>
        <p:spPr>
          <a:xfrm>
            <a:off x="8430816" y="3422005"/>
            <a:ext cx="3771751" cy="9525"/>
          </a:xfrm>
          <a:prstGeom prst="rect">
            <a:avLst/>
          </a:prstGeom>
          <a:solidFill>
            <a:srgbClr val="1F1F1F">
              <a:alpha val="16000"/>
            </a:srgbClr>
          </a:solidFill>
          <a:ln/>
        </p:spPr>
      </p:sp>
      <p:sp>
        <p:nvSpPr>
          <p:cNvPr id="13" name="Text 11"/>
          <p:cNvSpPr/>
          <p:nvPr/>
        </p:nvSpPr>
        <p:spPr>
          <a:xfrm>
            <a:off x="8430816" y="2861072"/>
            <a:ext cx="3884904" cy="446633"/>
          </a:xfrm>
          <a:prstGeom prst="rect">
            <a:avLst/>
          </a:prstGeom>
          <a:noFill/>
          <a:ln/>
        </p:spPr>
        <p:txBody>
          <a:bodyPr wrap="square" lIns="25400" tIns="25400" rIns="25400" bIns="25400" rtlCol="0" anchor="ctr">
            <a:normAutofit/>
          </a:bodyPr>
          <a:lstStyle/>
          <a:p>
            <a:pPr algn="l" indent="0" marL="0">
              <a:lnSpc>
                <a:spcPct val="135625"/>
              </a:lnSpc>
              <a:buNone/>
            </a:pPr>
            <a:r>
              <a:rPr lang="en-US" sz="2100" b="1" spc="168" kern="0" dirty="0">
                <a:solidFill>
                  <a:srgbClr val="201E1C">
                    <a:alpha val="60000"/>
                  </a:srgbClr>
                </a:solidFill>
                <a:latin typeface="Arial" pitchFamily="34" charset="0"/>
                <a:ea typeface="Arial" pitchFamily="34" charset="-122"/>
                <a:cs typeface="Arial" pitchFamily="34" charset="-120"/>
              </a:rPr>
              <a:t>TREATMENT</a:t>
            </a:r>
            <a:endParaRPr lang="en-US" sz="2100" dirty="0"/>
          </a:p>
        </p:txBody>
      </p:sp>
      <p:sp>
        <p:nvSpPr>
          <p:cNvPr id="14" name="Shape 12"/>
          <p:cNvSpPr/>
          <p:nvPr/>
        </p:nvSpPr>
        <p:spPr>
          <a:xfrm>
            <a:off x="12202567" y="3422005"/>
            <a:ext cx="1320403" cy="9525"/>
          </a:xfrm>
          <a:prstGeom prst="rect">
            <a:avLst/>
          </a:prstGeom>
          <a:solidFill>
            <a:srgbClr val="1F1F1F">
              <a:alpha val="16000"/>
            </a:srgbClr>
          </a:solidFill>
          <a:ln/>
        </p:spPr>
      </p:sp>
      <p:sp>
        <p:nvSpPr>
          <p:cNvPr id="15" name="Text 13"/>
          <p:cNvSpPr/>
          <p:nvPr/>
        </p:nvSpPr>
        <p:spPr>
          <a:xfrm>
            <a:off x="12202567" y="2861072"/>
            <a:ext cx="1396603" cy="446633"/>
          </a:xfrm>
          <a:prstGeom prst="rect">
            <a:avLst/>
          </a:prstGeom>
          <a:noFill/>
          <a:ln/>
        </p:spPr>
        <p:txBody>
          <a:bodyPr wrap="square" lIns="25400" tIns="25400" rIns="25400" bIns="25400" rtlCol="0" anchor="ctr">
            <a:normAutofit/>
          </a:bodyPr>
          <a:lstStyle/>
          <a:p>
            <a:pPr algn="l" indent="0" marL="0">
              <a:lnSpc>
                <a:spcPct val="135625"/>
              </a:lnSpc>
              <a:buNone/>
            </a:pPr>
            <a:r>
              <a:rPr lang="en-US" sz="2100" b="1" spc="168" kern="0" dirty="0">
                <a:solidFill>
                  <a:srgbClr val="201E1C">
                    <a:alpha val="60000"/>
                  </a:srgbClr>
                </a:solidFill>
                <a:latin typeface="Arial" pitchFamily="34" charset="0"/>
                <a:ea typeface="Arial" pitchFamily="34" charset="-122"/>
                <a:cs typeface="Arial" pitchFamily="34" charset="-120"/>
              </a:rPr>
              <a:t>GRADE</a:t>
            </a:r>
            <a:endParaRPr lang="en-US" sz="2100" dirty="0"/>
          </a:p>
        </p:txBody>
      </p:sp>
      <p:sp>
        <p:nvSpPr>
          <p:cNvPr id="16" name="Shape 14"/>
          <p:cNvSpPr/>
          <p:nvPr/>
        </p:nvSpPr>
        <p:spPr>
          <a:xfrm>
            <a:off x="13522970" y="3422005"/>
            <a:ext cx="3622030" cy="9525"/>
          </a:xfrm>
          <a:prstGeom prst="rect">
            <a:avLst/>
          </a:prstGeom>
          <a:solidFill>
            <a:srgbClr val="1F1F1F">
              <a:alpha val="16000"/>
            </a:srgbClr>
          </a:solidFill>
          <a:ln/>
        </p:spPr>
      </p:sp>
      <p:sp>
        <p:nvSpPr>
          <p:cNvPr id="17" name="Text 15"/>
          <p:cNvSpPr/>
          <p:nvPr/>
        </p:nvSpPr>
        <p:spPr>
          <a:xfrm>
            <a:off x="13522970" y="2861072"/>
            <a:ext cx="3730691" cy="446633"/>
          </a:xfrm>
          <a:prstGeom prst="rect">
            <a:avLst/>
          </a:prstGeom>
          <a:noFill/>
          <a:ln/>
        </p:spPr>
        <p:txBody>
          <a:bodyPr wrap="square" lIns="25400" tIns="25400" rIns="25400" bIns="25400" rtlCol="0" anchor="ctr">
            <a:normAutofit/>
          </a:bodyPr>
          <a:lstStyle/>
          <a:p>
            <a:pPr algn="l" indent="0" marL="0">
              <a:lnSpc>
                <a:spcPct val="135625"/>
              </a:lnSpc>
              <a:buNone/>
            </a:pPr>
            <a:r>
              <a:rPr lang="en-US" sz="2100" b="1" spc="168" kern="0" dirty="0">
                <a:solidFill>
                  <a:srgbClr val="201E1C">
                    <a:alpha val="60000"/>
                  </a:srgbClr>
                </a:solidFill>
                <a:latin typeface="Arial" pitchFamily="34" charset="0"/>
                <a:ea typeface="Arial" pitchFamily="34" charset="-122"/>
                <a:cs typeface="Arial" pitchFamily="34" charset="-120"/>
              </a:rPr>
              <a:t>NOTE</a:t>
            </a:r>
            <a:endParaRPr lang="en-US" sz="2100" dirty="0"/>
          </a:p>
        </p:txBody>
      </p:sp>
      <p:sp>
        <p:nvSpPr>
          <p:cNvPr id="18" name="Shape 16"/>
          <p:cNvSpPr/>
          <p:nvPr/>
        </p:nvSpPr>
        <p:spPr>
          <a:xfrm>
            <a:off x="1143000" y="4187726"/>
            <a:ext cx="3039070" cy="9525"/>
          </a:xfrm>
          <a:prstGeom prst="rect">
            <a:avLst/>
          </a:prstGeom>
          <a:solidFill>
            <a:srgbClr val="261A1A">
              <a:alpha val="8000"/>
            </a:srgbClr>
          </a:solidFill>
          <a:ln/>
        </p:spPr>
      </p:sp>
      <p:sp>
        <p:nvSpPr>
          <p:cNvPr id="19" name="Text 17"/>
          <p:cNvSpPr/>
          <p:nvPr/>
        </p:nvSpPr>
        <p:spPr>
          <a:xfrm>
            <a:off x="1143000" y="3602980"/>
            <a:ext cx="3130242"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East wall</a:t>
            </a:r>
            <a:endParaRPr lang="en-US" sz="2100" dirty="0"/>
          </a:p>
        </p:txBody>
      </p:sp>
      <p:sp>
        <p:nvSpPr>
          <p:cNvPr id="20" name="Shape 18"/>
          <p:cNvSpPr/>
          <p:nvPr/>
        </p:nvSpPr>
        <p:spPr>
          <a:xfrm>
            <a:off x="4182070" y="4187726"/>
            <a:ext cx="1513880" cy="9525"/>
          </a:xfrm>
          <a:prstGeom prst="rect">
            <a:avLst/>
          </a:prstGeom>
          <a:solidFill>
            <a:srgbClr val="261A1A">
              <a:alpha val="8000"/>
            </a:srgbClr>
          </a:solidFill>
          <a:ln/>
        </p:spPr>
      </p:sp>
      <p:sp>
        <p:nvSpPr>
          <p:cNvPr id="21" name="Text 19"/>
          <p:cNvSpPr/>
          <p:nvPr/>
        </p:nvSpPr>
        <p:spPr>
          <a:xfrm>
            <a:off x="4182070" y="3602980"/>
            <a:ext cx="1590080"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6.20 m</a:t>
            </a:r>
            <a:endParaRPr lang="en-US" sz="2100" dirty="0"/>
          </a:p>
        </p:txBody>
      </p:sp>
      <p:sp>
        <p:nvSpPr>
          <p:cNvPr id="22" name="Shape 20"/>
          <p:cNvSpPr/>
          <p:nvPr/>
        </p:nvSpPr>
        <p:spPr>
          <a:xfrm>
            <a:off x="5695950" y="4187726"/>
            <a:ext cx="1421160" cy="9525"/>
          </a:xfrm>
          <a:prstGeom prst="rect">
            <a:avLst/>
          </a:prstGeom>
          <a:solidFill>
            <a:srgbClr val="261A1A">
              <a:alpha val="8000"/>
            </a:srgbClr>
          </a:solidFill>
          <a:ln/>
        </p:spPr>
      </p:sp>
      <p:sp>
        <p:nvSpPr>
          <p:cNvPr id="23" name="Text 21"/>
          <p:cNvSpPr/>
          <p:nvPr/>
        </p:nvSpPr>
        <p:spPr>
          <a:xfrm>
            <a:off x="5695950" y="3602980"/>
            <a:ext cx="1497360"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2.40 m</a:t>
            </a:r>
            <a:endParaRPr lang="en-US" sz="2100" dirty="0"/>
          </a:p>
        </p:txBody>
      </p:sp>
      <p:sp>
        <p:nvSpPr>
          <p:cNvPr id="24" name="Shape 22"/>
          <p:cNvSpPr/>
          <p:nvPr/>
        </p:nvSpPr>
        <p:spPr>
          <a:xfrm>
            <a:off x="7117110" y="4187726"/>
            <a:ext cx="1313706" cy="9525"/>
          </a:xfrm>
          <a:prstGeom prst="rect">
            <a:avLst/>
          </a:prstGeom>
          <a:solidFill>
            <a:srgbClr val="261A1A">
              <a:alpha val="8000"/>
            </a:srgbClr>
          </a:solidFill>
          <a:ln/>
        </p:spPr>
      </p:sp>
      <p:sp>
        <p:nvSpPr>
          <p:cNvPr id="25" name="Text 23"/>
          <p:cNvSpPr/>
          <p:nvPr/>
        </p:nvSpPr>
        <p:spPr>
          <a:xfrm>
            <a:off x="7117110" y="3602980"/>
            <a:ext cx="1389906"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14.88 m²</a:t>
            </a:r>
            <a:endParaRPr lang="en-US" sz="2100" dirty="0"/>
          </a:p>
        </p:txBody>
      </p:sp>
      <p:sp>
        <p:nvSpPr>
          <p:cNvPr id="26" name="Shape 24"/>
          <p:cNvSpPr/>
          <p:nvPr/>
        </p:nvSpPr>
        <p:spPr>
          <a:xfrm>
            <a:off x="8430816" y="4187726"/>
            <a:ext cx="3771751" cy="9525"/>
          </a:xfrm>
          <a:prstGeom prst="rect">
            <a:avLst/>
          </a:prstGeom>
          <a:solidFill>
            <a:srgbClr val="261A1A">
              <a:alpha val="8000"/>
            </a:srgbClr>
          </a:solidFill>
          <a:ln/>
        </p:spPr>
      </p:sp>
      <p:sp>
        <p:nvSpPr>
          <p:cNvPr id="27" name="Text 25"/>
          <p:cNvSpPr/>
          <p:nvPr/>
        </p:nvSpPr>
        <p:spPr>
          <a:xfrm>
            <a:off x="8430816" y="3602980"/>
            <a:ext cx="3884904"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Cavity drain membrane</a:t>
            </a:r>
            <a:endParaRPr lang="en-US" sz="2100" dirty="0"/>
          </a:p>
        </p:txBody>
      </p:sp>
      <p:sp>
        <p:nvSpPr>
          <p:cNvPr id="28" name="Shape 26"/>
          <p:cNvSpPr/>
          <p:nvPr/>
        </p:nvSpPr>
        <p:spPr>
          <a:xfrm>
            <a:off x="12202567" y="4187726"/>
            <a:ext cx="1320403" cy="9525"/>
          </a:xfrm>
          <a:prstGeom prst="rect">
            <a:avLst/>
          </a:prstGeom>
          <a:solidFill>
            <a:srgbClr val="261A1A">
              <a:alpha val="8000"/>
            </a:srgbClr>
          </a:solidFill>
          <a:ln/>
        </p:spPr>
      </p:sp>
      <p:sp>
        <p:nvSpPr>
          <p:cNvPr id="29" name="Text 27"/>
          <p:cNvSpPr/>
          <p:nvPr/>
        </p:nvSpPr>
        <p:spPr>
          <a:xfrm>
            <a:off x="12202567" y="3602980"/>
            <a:ext cx="1396603"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Grade 3</a:t>
            </a:r>
            <a:endParaRPr lang="en-US" sz="2100" dirty="0"/>
          </a:p>
        </p:txBody>
      </p:sp>
      <p:sp>
        <p:nvSpPr>
          <p:cNvPr id="30" name="Shape 28"/>
          <p:cNvSpPr/>
          <p:nvPr/>
        </p:nvSpPr>
        <p:spPr>
          <a:xfrm>
            <a:off x="13522970" y="4187726"/>
            <a:ext cx="3622030" cy="9525"/>
          </a:xfrm>
          <a:prstGeom prst="rect">
            <a:avLst/>
          </a:prstGeom>
          <a:solidFill>
            <a:srgbClr val="261A1A">
              <a:alpha val="8000"/>
            </a:srgbClr>
          </a:solidFill>
          <a:ln/>
        </p:spPr>
      </p:sp>
      <p:sp>
        <p:nvSpPr>
          <p:cNvPr id="31" name="Text 29"/>
          <p:cNvSpPr/>
          <p:nvPr/>
        </p:nvSpPr>
        <p:spPr>
          <a:xfrm>
            <a:off x="13522970" y="3602980"/>
            <a:ext cx="3730691"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Behind stairs</a:t>
            </a:r>
            <a:endParaRPr lang="en-US" sz="2100" dirty="0"/>
          </a:p>
        </p:txBody>
      </p:sp>
      <p:sp>
        <p:nvSpPr>
          <p:cNvPr id="32" name="Shape 30"/>
          <p:cNvSpPr/>
          <p:nvPr/>
        </p:nvSpPr>
        <p:spPr>
          <a:xfrm>
            <a:off x="1143000" y="4953446"/>
            <a:ext cx="3039070" cy="9525"/>
          </a:xfrm>
          <a:prstGeom prst="rect">
            <a:avLst/>
          </a:prstGeom>
          <a:solidFill>
            <a:srgbClr val="261A1A">
              <a:alpha val="8000"/>
            </a:srgbClr>
          </a:solidFill>
          <a:ln/>
        </p:spPr>
      </p:sp>
      <p:sp>
        <p:nvSpPr>
          <p:cNvPr id="33" name="Text 31"/>
          <p:cNvSpPr/>
          <p:nvPr/>
        </p:nvSpPr>
        <p:spPr>
          <a:xfrm>
            <a:off x="1143000" y="4368701"/>
            <a:ext cx="3130242"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North wall</a:t>
            </a:r>
            <a:endParaRPr lang="en-US" sz="2100" dirty="0"/>
          </a:p>
        </p:txBody>
      </p:sp>
      <p:sp>
        <p:nvSpPr>
          <p:cNvPr id="34" name="Shape 32"/>
          <p:cNvSpPr/>
          <p:nvPr/>
        </p:nvSpPr>
        <p:spPr>
          <a:xfrm>
            <a:off x="4182070" y="4953446"/>
            <a:ext cx="1513880" cy="9525"/>
          </a:xfrm>
          <a:prstGeom prst="rect">
            <a:avLst/>
          </a:prstGeom>
          <a:solidFill>
            <a:srgbClr val="261A1A">
              <a:alpha val="8000"/>
            </a:srgbClr>
          </a:solidFill>
          <a:ln/>
        </p:spPr>
      </p:sp>
      <p:sp>
        <p:nvSpPr>
          <p:cNvPr id="35" name="Text 33"/>
          <p:cNvSpPr/>
          <p:nvPr/>
        </p:nvSpPr>
        <p:spPr>
          <a:xfrm>
            <a:off x="4182070" y="4368701"/>
            <a:ext cx="1590080"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4.05 m</a:t>
            </a:r>
            <a:endParaRPr lang="en-US" sz="2100" dirty="0"/>
          </a:p>
        </p:txBody>
      </p:sp>
      <p:sp>
        <p:nvSpPr>
          <p:cNvPr id="36" name="Shape 34"/>
          <p:cNvSpPr/>
          <p:nvPr/>
        </p:nvSpPr>
        <p:spPr>
          <a:xfrm>
            <a:off x="5695950" y="4953446"/>
            <a:ext cx="1421160" cy="9525"/>
          </a:xfrm>
          <a:prstGeom prst="rect">
            <a:avLst/>
          </a:prstGeom>
          <a:solidFill>
            <a:srgbClr val="261A1A">
              <a:alpha val="8000"/>
            </a:srgbClr>
          </a:solidFill>
          <a:ln/>
        </p:spPr>
      </p:sp>
      <p:sp>
        <p:nvSpPr>
          <p:cNvPr id="37" name="Text 35"/>
          <p:cNvSpPr/>
          <p:nvPr/>
        </p:nvSpPr>
        <p:spPr>
          <a:xfrm>
            <a:off x="5695950" y="4368701"/>
            <a:ext cx="1497360"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2.40 m</a:t>
            </a:r>
            <a:endParaRPr lang="en-US" sz="2100" dirty="0"/>
          </a:p>
        </p:txBody>
      </p:sp>
      <p:sp>
        <p:nvSpPr>
          <p:cNvPr id="38" name="Shape 36"/>
          <p:cNvSpPr/>
          <p:nvPr/>
        </p:nvSpPr>
        <p:spPr>
          <a:xfrm>
            <a:off x="7117110" y="4953446"/>
            <a:ext cx="1313706" cy="9525"/>
          </a:xfrm>
          <a:prstGeom prst="rect">
            <a:avLst/>
          </a:prstGeom>
          <a:solidFill>
            <a:srgbClr val="261A1A">
              <a:alpha val="8000"/>
            </a:srgbClr>
          </a:solidFill>
          <a:ln/>
        </p:spPr>
      </p:sp>
      <p:sp>
        <p:nvSpPr>
          <p:cNvPr id="39" name="Text 37"/>
          <p:cNvSpPr/>
          <p:nvPr/>
        </p:nvSpPr>
        <p:spPr>
          <a:xfrm>
            <a:off x="7117110" y="4368701"/>
            <a:ext cx="1389906"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9.72 m²</a:t>
            </a:r>
            <a:endParaRPr lang="en-US" sz="2100" dirty="0"/>
          </a:p>
        </p:txBody>
      </p:sp>
      <p:sp>
        <p:nvSpPr>
          <p:cNvPr id="40" name="Shape 38"/>
          <p:cNvSpPr/>
          <p:nvPr/>
        </p:nvSpPr>
        <p:spPr>
          <a:xfrm>
            <a:off x="8430816" y="4953446"/>
            <a:ext cx="3771751" cy="9525"/>
          </a:xfrm>
          <a:prstGeom prst="rect">
            <a:avLst/>
          </a:prstGeom>
          <a:solidFill>
            <a:srgbClr val="261A1A">
              <a:alpha val="8000"/>
            </a:srgbClr>
          </a:solidFill>
          <a:ln/>
        </p:spPr>
      </p:sp>
      <p:sp>
        <p:nvSpPr>
          <p:cNvPr id="41" name="Text 39"/>
          <p:cNvSpPr/>
          <p:nvPr/>
        </p:nvSpPr>
        <p:spPr>
          <a:xfrm>
            <a:off x="8430816" y="4368701"/>
            <a:ext cx="3884904"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Cavity drain membrane</a:t>
            </a:r>
            <a:endParaRPr lang="en-US" sz="2100" dirty="0"/>
          </a:p>
        </p:txBody>
      </p:sp>
      <p:sp>
        <p:nvSpPr>
          <p:cNvPr id="42" name="Shape 40"/>
          <p:cNvSpPr/>
          <p:nvPr/>
        </p:nvSpPr>
        <p:spPr>
          <a:xfrm>
            <a:off x="12202567" y="4953446"/>
            <a:ext cx="1320403" cy="9525"/>
          </a:xfrm>
          <a:prstGeom prst="rect">
            <a:avLst/>
          </a:prstGeom>
          <a:solidFill>
            <a:srgbClr val="261A1A">
              <a:alpha val="8000"/>
            </a:srgbClr>
          </a:solidFill>
          <a:ln/>
        </p:spPr>
      </p:sp>
      <p:sp>
        <p:nvSpPr>
          <p:cNvPr id="43" name="Text 41"/>
          <p:cNvSpPr/>
          <p:nvPr/>
        </p:nvSpPr>
        <p:spPr>
          <a:xfrm>
            <a:off x="12202567" y="4368701"/>
            <a:ext cx="1396603"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Grade 3</a:t>
            </a:r>
            <a:endParaRPr lang="en-US" sz="2100" dirty="0"/>
          </a:p>
        </p:txBody>
      </p:sp>
      <p:sp>
        <p:nvSpPr>
          <p:cNvPr id="44" name="Shape 42"/>
          <p:cNvSpPr/>
          <p:nvPr/>
        </p:nvSpPr>
        <p:spPr>
          <a:xfrm>
            <a:off x="13522970" y="4953446"/>
            <a:ext cx="3622030" cy="9525"/>
          </a:xfrm>
          <a:prstGeom prst="rect">
            <a:avLst/>
          </a:prstGeom>
          <a:solidFill>
            <a:srgbClr val="261A1A">
              <a:alpha val="8000"/>
            </a:srgbClr>
          </a:solidFill>
          <a:ln/>
        </p:spPr>
      </p:sp>
      <p:sp>
        <p:nvSpPr>
          <p:cNvPr id="45" name="Text 43"/>
          <p:cNvSpPr/>
          <p:nvPr/>
        </p:nvSpPr>
        <p:spPr>
          <a:xfrm>
            <a:off x="13522970" y="4368701"/>
            <a:ext cx="3730691"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Obstructed by services</a:t>
            </a:r>
            <a:endParaRPr lang="en-US" sz="2100" dirty="0"/>
          </a:p>
        </p:txBody>
      </p:sp>
      <p:sp>
        <p:nvSpPr>
          <p:cNvPr id="46" name="Shape 44"/>
          <p:cNvSpPr/>
          <p:nvPr/>
        </p:nvSpPr>
        <p:spPr>
          <a:xfrm>
            <a:off x="1143000" y="5719167"/>
            <a:ext cx="3039070" cy="9525"/>
          </a:xfrm>
          <a:prstGeom prst="rect">
            <a:avLst/>
          </a:prstGeom>
          <a:solidFill>
            <a:srgbClr val="261A1A">
              <a:alpha val="8000"/>
            </a:srgbClr>
          </a:solidFill>
          <a:ln/>
        </p:spPr>
      </p:sp>
      <p:sp>
        <p:nvSpPr>
          <p:cNvPr id="47" name="Text 45"/>
          <p:cNvSpPr/>
          <p:nvPr/>
        </p:nvSpPr>
        <p:spPr>
          <a:xfrm>
            <a:off x="1143000" y="5134421"/>
            <a:ext cx="3130242"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Floor — plant room</a:t>
            </a:r>
            <a:endParaRPr lang="en-US" sz="2100" dirty="0"/>
          </a:p>
        </p:txBody>
      </p:sp>
      <p:sp>
        <p:nvSpPr>
          <p:cNvPr id="48" name="Shape 46"/>
          <p:cNvSpPr/>
          <p:nvPr/>
        </p:nvSpPr>
        <p:spPr>
          <a:xfrm>
            <a:off x="4182070" y="5719167"/>
            <a:ext cx="1513880" cy="9525"/>
          </a:xfrm>
          <a:prstGeom prst="rect">
            <a:avLst/>
          </a:prstGeom>
          <a:solidFill>
            <a:srgbClr val="261A1A">
              <a:alpha val="8000"/>
            </a:srgbClr>
          </a:solidFill>
          <a:ln/>
        </p:spPr>
      </p:sp>
      <p:sp>
        <p:nvSpPr>
          <p:cNvPr id="49" name="Text 47"/>
          <p:cNvSpPr/>
          <p:nvPr/>
        </p:nvSpPr>
        <p:spPr>
          <a:xfrm>
            <a:off x="4182070" y="5134421"/>
            <a:ext cx="1590080"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4.05 m</a:t>
            </a:r>
            <a:endParaRPr lang="en-US" sz="2100" dirty="0"/>
          </a:p>
        </p:txBody>
      </p:sp>
      <p:sp>
        <p:nvSpPr>
          <p:cNvPr id="50" name="Shape 48"/>
          <p:cNvSpPr/>
          <p:nvPr/>
        </p:nvSpPr>
        <p:spPr>
          <a:xfrm>
            <a:off x="5695950" y="5719167"/>
            <a:ext cx="1421160" cy="9525"/>
          </a:xfrm>
          <a:prstGeom prst="rect">
            <a:avLst/>
          </a:prstGeom>
          <a:solidFill>
            <a:srgbClr val="261A1A">
              <a:alpha val="8000"/>
            </a:srgbClr>
          </a:solidFill>
          <a:ln/>
        </p:spPr>
      </p:sp>
      <p:sp>
        <p:nvSpPr>
          <p:cNvPr id="51" name="Text 49"/>
          <p:cNvSpPr/>
          <p:nvPr/>
        </p:nvSpPr>
        <p:spPr>
          <a:xfrm>
            <a:off x="5695950" y="5134421"/>
            <a:ext cx="1497360"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3.10 m</a:t>
            </a:r>
            <a:endParaRPr lang="en-US" sz="2100" dirty="0"/>
          </a:p>
        </p:txBody>
      </p:sp>
      <p:sp>
        <p:nvSpPr>
          <p:cNvPr id="52" name="Shape 50"/>
          <p:cNvSpPr/>
          <p:nvPr/>
        </p:nvSpPr>
        <p:spPr>
          <a:xfrm>
            <a:off x="7117110" y="5719167"/>
            <a:ext cx="1313706" cy="9525"/>
          </a:xfrm>
          <a:prstGeom prst="rect">
            <a:avLst/>
          </a:prstGeom>
          <a:solidFill>
            <a:srgbClr val="261A1A">
              <a:alpha val="8000"/>
            </a:srgbClr>
          </a:solidFill>
          <a:ln/>
        </p:spPr>
      </p:sp>
      <p:sp>
        <p:nvSpPr>
          <p:cNvPr id="53" name="Text 51"/>
          <p:cNvSpPr/>
          <p:nvPr/>
        </p:nvSpPr>
        <p:spPr>
          <a:xfrm>
            <a:off x="7117110" y="5134421"/>
            <a:ext cx="1389906"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12.56 m²</a:t>
            </a:r>
            <a:endParaRPr lang="en-US" sz="2100" dirty="0"/>
          </a:p>
        </p:txBody>
      </p:sp>
      <p:sp>
        <p:nvSpPr>
          <p:cNvPr id="54" name="Shape 52"/>
          <p:cNvSpPr/>
          <p:nvPr/>
        </p:nvSpPr>
        <p:spPr>
          <a:xfrm>
            <a:off x="8430816" y="5719167"/>
            <a:ext cx="3771751" cy="9525"/>
          </a:xfrm>
          <a:prstGeom prst="rect">
            <a:avLst/>
          </a:prstGeom>
          <a:solidFill>
            <a:srgbClr val="261A1A">
              <a:alpha val="8000"/>
            </a:srgbClr>
          </a:solidFill>
          <a:ln/>
        </p:spPr>
      </p:sp>
      <p:sp>
        <p:nvSpPr>
          <p:cNvPr id="55" name="Text 53"/>
          <p:cNvSpPr/>
          <p:nvPr/>
        </p:nvSpPr>
        <p:spPr>
          <a:xfrm>
            <a:off x="8430816" y="5134421"/>
            <a:ext cx="3884904"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BaseDrain to sump</a:t>
            </a:r>
            <a:endParaRPr lang="en-US" sz="2100" dirty="0"/>
          </a:p>
        </p:txBody>
      </p:sp>
      <p:sp>
        <p:nvSpPr>
          <p:cNvPr id="56" name="Shape 54"/>
          <p:cNvSpPr/>
          <p:nvPr/>
        </p:nvSpPr>
        <p:spPr>
          <a:xfrm>
            <a:off x="12202567" y="5719167"/>
            <a:ext cx="1320403" cy="9525"/>
          </a:xfrm>
          <a:prstGeom prst="rect">
            <a:avLst/>
          </a:prstGeom>
          <a:solidFill>
            <a:srgbClr val="261A1A">
              <a:alpha val="8000"/>
            </a:srgbClr>
          </a:solidFill>
          <a:ln/>
        </p:spPr>
      </p:sp>
      <p:sp>
        <p:nvSpPr>
          <p:cNvPr id="57" name="Text 55"/>
          <p:cNvSpPr/>
          <p:nvPr/>
        </p:nvSpPr>
        <p:spPr>
          <a:xfrm>
            <a:off x="12202567" y="5134421"/>
            <a:ext cx="1396603"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Grade 2</a:t>
            </a:r>
            <a:endParaRPr lang="en-US" sz="2100" dirty="0"/>
          </a:p>
        </p:txBody>
      </p:sp>
      <p:sp>
        <p:nvSpPr>
          <p:cNvPr id="58" name="Shape 56"/>
          <p:cNvSpPr/>
          <p:nvPr/>
        </p:nvSpPr>
        <p:spPr>
          <a:xfrm>
            <a:off x="13522970" y="5719167"/>
            <a:ext cx="3622030" cy="9525"/>
          </a:xfrm>
          <a:prstGeom prst="rect">
            <a:avLst/>
          </a:prstGeom>
          <a:solidFill>
            <a:srgbClr val="261A1A">
              <a:alpha val="8000"/>
            </a:srgbClr>
          </a:solidFill>
          <a:ln/>
        </p:spPr>
      </p:sp>
      <p:sp>
        <p:nvSpPr>
          <p:cNvPr id="59" name="Text 57"/>
          <p:cNvSpPr/>
          <p:nvPr/>
        </p:nvSpPr>
        <p:spPr>
          <a:xfrm>
            <a:off x="13522970" y="5134421"/>
            <a:ext cx="3730691"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201E1D"/>
                </a:solidFill>
                <a:latin typeface="Arial" pitchFamily="34" charset="0"/>
                <a:ea typeface="Arial" pitchFamily="34" charset="-122"/>
                <a:cs typeface="Arial" pitchFamily="34" charset="-120"/>
              </a:rPr>
              <a:t>Lift pit adjacent</a:t>
            </a:r>
            <a:endParaRPr lang="en-US" sz="2100" dirty="0"/>
          </a:p>
        </p:txBody>
      </p:sp>
      <p:sp>
        <p:nvSpPr>
          <p:cNvPr id="60" name="Shape 58"/>
          <p:cNvSpPr/>
          <p:nvPr/>
        </p:nvSpPr>
        <p:spPr>
          <a:xfrm>
            <a:off x="1143000" y="6484888"/>
            <a:ext cx="3039070" cy="9525"/>
          </a:xfrm>
          <a:prstGeom prst="rect">
            <a:avLst/>
          </a:prstGeom>
          <a:solidFill>
            <a:srgbClr val="261A1A">
              <a:alpha val="8000"/>
            </a:srgbClr>
          </a:solidFill>
          <a:ln/>
        </p:spPr>
      </p:sp>
      <p:sp>
        <p:nvSpPr>
          <p:cNvPr id="61" name="Text 59"/>
          <p:cNvSpPr/>
          <p:nvPr/>
        </p:nvSpPr>
        <p:spPr>
          <a:xfrm>
            <a:off x="1143000" y="5900142"/>
            <a:ext cx="3130242"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006786"/>
                </a:solidFill>
                <a:latin typeface="Arial" pitchFamily="34" charset="0"/>
                <a:ea typeface="Arial" pitchFamily="34" charset="-122"/>
                <a:cs typeface="Arial" pitchFamily="34" charset="-120"/>
              </a:rPr>
              <a:t>Totals</a:t>
            </a:r>
            <a:endParaRPr lang="en-US" sz="2100" dirty="0"/>
          </a:p>
        </p:txBody>
      </p:sp>
      <p:sp>
        <p:nvSpPr>
          <p:cNvPr id="62" name="Shape 60"/>
          <p:cNvSpPr/>
          <p:nvPr/>
        </p:nvSpPr>
        <p:spPr>
          <a:xfrm>
            <a:off x="4182070" y="6484888"/>
            <a:ext cx="1513880" cy="9525"/>
          </a:xfrm>
          <a:prstGeom prst="rect">
            <a:avLst/>
          </a:prstGeom>
          <a:solidFill>
            <a:srgbClr val="261A1A">
              <a:alpha val="8000"/>
            </a:srgbClr>
          </a:solidFill>
          <a:ln/>
        </p:spPr>
      </p:sp>
      <p:sp>
        <p:nvSpPr>
          <p:cNvPr id="63" name="Text 61"/>
          <p:cNvSpPr/>
          <p:nvPr/>
        </p:nvSpPr>
        <p:spPr>
          <a:xfrm>
            <a:off x="4182070" y="5900142"/>
            <a:ext cx="1590080"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006786"/>
                </a:solidFill>
                <a:latin typeface="Arial" pitchFamily="34" charset="0"/>
                <a:ea typeface="Arial" pitchFamily="34" charset="-122"/>
                <a:cs typeface="Arial" pitchFamily="34" charset="-120"/>
              </a:rPr>
              <a:t>14.30 lm</a:t>
            </a:r>
            <a:endParaRPr lang="en-US" sz="2100" dirty="0"/>
          </a:p>
        </p:txBody>
      </p:sp>
      <p:sp>
        <p:nvSpPr>
          <p:cNvPr id="64" name="Shape 62"/>
          <p:cNvSpPr/>
          <p:nvPr/>
        </p:nvSpPr>
        <p:spPr>
          <a:xfrm>
            <a:off x="5695950" y="6484888"/>
            <a:ext cx="1421160" cy="9525"/>
          </a:xfrm>
          <a:prstGeom prst="rect">
            <a:avLst/>
          </a:prstGeom>
          <a:solidFill>
            <a:srgbClr val="261A1A">
              <a:alpha val="8000"/>
            </a:srgbClr>
          </a:solidFill>
          <a:ln/>
        </p:spPr>
      </p:sp>
      <p:sp>
        <p:nvSpPr>
          <p:cNvPr id="65" name="Shape 63"/>
          <p:cNvSpPr/>
          <p:nvPr/>
        </p:nvSpPr>
        <p:spPr>
          <a:xfrm>
            <a:off x="7117110" y="6484888"/>
            <a:ext cx="1313706" cy="9525"/>
          </a:xfrm>
          <a:prstGeom prst="rect">
            <a:avLst/>
          </a:prstGeom>
          <a:solidFill>
            <a:srgbClr val="261A1A">
              <a:alpha val="8000"/>
            </a:srgbClr>
          </a:solidFill>
          <a:ln/>
        </p:spPr>
      </p:sp>
      <p:sp>
        <p:nvSpPr>
          <p:cNvPr id="66" name="Text 64"/>
          <p:cNvSpPr/>
          <p:nvPr/>
        </p:nvSpPr>
        <p:spPr>
          <a:xfrm>
            <a:off x="7117110" y="5900142"/>
            <a:ext cx="1389906" cy="451396"/>
          </a:xfrm>
          <a:prstGeom prst="rect">
            <a:avLst/>
          </a:prstGeom>
          <a:noFill/>
          <a:ln/>
        </p:spPr>
        <p:txBody>
          <a:bodyPr wrap="square" lIns="25400" tIns="25400" rIns="25400" bIns="25400" rtlCol="0" anchor="ctr">
            <a:normAutofit/>
          </a:bodyPr>
          <a:lstStyle/>
          <a:p>
            <a:pPr algn="l" indent="0" marL="0">
              <a:lnSpc>
                <a:spcPct val="135625"/>
              </a:lnSpc>
              <a:buNone/>
            </a:pPr>
            <a:r>
              <a:rPr lang="en-US" sz="2100" dirty="0">
                <a:solidFill>
                  <a:srgbClr val="006786"/>
                </a:solidFill>
                <a:latin typeface="Arial" pitchFamily="34" charset="0"/>
                <a:ea typeface="Arial" pitchFamily="34" charset="-122"/>
                <a:cs typeface="Arial" pitchFamily="34" charset="-120"/>
              </a:rPr>
              <a:t>37.16 m²</a:t>
            </a:r>
            <a:endParaRPr lang="en-US" sz="2100" dirty="0"/>
          </a:p>
        </p:txBody>
      </p:sp>
      <p:sp>
        <p:nvSpPr>
          <p:cNvPr id="67" name="Shape 65"/>
          <p:cNvSpPr/>
          <p:nvPr/>
        </p:nvSpPr>
        <p:spPr>
          <a:xfrm>
            <a:off x="8430816" y="6484888"/>
            <a:ext cx="3771751" cy="9525"/>
          </a:xfrm>
          <a:prstGeom prst="rect">
            <a:avLst/>
          </a:prstGeom>
          <a:solidFill>
            <a:srgbClr val="261A1A">
              <a:alpha val="8000"/>
            </a:srgbClr>
          </a:solidFill>
          <a:ln/>
        </p:spPr>
      </p:sp>
      <p:sp>
        <p:nvSpPr>
          <p:cNvPr id="68" name="Shape 66"/>
          <p:cNvSpPr/>
          <p:nvPr/>
        </p:nvSpPr>
        <p:spPr>
          <a:xfrm>
            <a:off x="12202567" y="6484888"/>
            <a:ext cx="1320403" cy="9525"/>
          </a:xfrm>
          <a:prstGeom prst="rect">
            <a:avLst/>
          </a:prstGeom>
          <a:solidFill>
            <a:srgbClr val="261A1A">
              <a:alpha val="8000"/>
            </a:srgbClr>
          </a:solidFill>
          <a:ln/>
        </p:spPr>
      </p:sp>
      <p:sp>
        <p:nvSpPr>
          <p:cNvPr id="69" name="Shape 67"/>
          <p:cNvSpPr/>
          <p:nvPr/>
        </p:nvSpPr>
        <p:spPr>
          <a:xfrm>
            <a:off x="13522970" y="6484888"/>
            <a:ext cx="3622030" cy="9525"/>
          </a:xfrm>
          <a:prstGeom prst="rect">
            <a:avLst/>
          </a:prstGeom>
          <a:solidFill>
            <a:srgbClr val="261A1A">
              <a:alpha val="8000"/>
            </a:srgbClr>
          </a:solidFill>
          <a:ln/>
        </p:spPr>
      </p:sp>
      <p:sp>
        <p:nvSpPr>
          <p:cNvPr id="70" name="Text 68"/>
          <p:cNvSpPr/>
          <p:nvPr/>
        </p:nvSpPr>
        <p:spPr>
          <a:xfrm>
            <a:off x="1143000" y="6994475"/>
            <a:ext cx="10587332" cy="912316"/>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Area calculates itself, totals carry into the report — and this is the number the quote is built from.</a:t>
            </a:r>
            <a:endParaRPr lang="en-US" sz="2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PART E</a:t>
            </a:r>
            <a:endParaRPr lang="en-US" sz="1800" dirty="0"/>
          </a:p>
        </p:txBody>
      </p:sp>
      <p:sp>
        <p:nvSpPr>
          <p:cNvPr id="3" name="Text 1"/>
          <p:cNvSpPr/>
          <p:nvPr/>
        </p:nvSpPr>
        <p:spPr>
          <a:xfrm>
            <a:off x="1143000" y="1573411"/>
            <a:ext cx="11003831"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Photos, video and files</a:t>
            </a:r>
            <a:endParaRPr lang="en-US" sz="4800" dirty="0"/>
          </a:p>
        </p:txBody>
      </p:sp>
      <p:sp>
        <p:nvSpPr>
          <p:cNvPr id="4" name="Text 2"/>
          <p:cNvSpPr/>
          <p:nvPr/>
        </p:nvSpPr>
        <p:spPr>
          <a:xfrm>
            <a:off x="1143000" y="2708672"/>
            <a:ext cx="8277225" cy="687586"/>
          </a:xfrm>
          <a:prstGeom prst="rect">
            <a:avLst/>
          </a:prstGeom>
          <a:noFill/>
          <a:ln/>
        </p:spPr>
        <p:txBody>
          <a:bodyPr wrap="square" lIns="25400" tIns="25400" rIns="25400" bIns="25400" rtlCol="0" anchor="t">
            <a:normAutofit/>
          </a:bodyPr>
          <a:lstStyle/>
          <a:p>
            <a:pPr algn="l" indent="0" marL="0">
              <a:lnSpc>
                <a:spcPct val="136400"/>
              </a:lnSpc>
              <a:buNone/>
            </a:pPr>
            <a:r>
              <a:rPr lang="en-US" sz="3300" dirty="0">
                <a:solidFill>
                  <a:srgbClr val="006786"/>
                </a:solidFill>
                <a:latin typeface="Arial" pitchFamily="34" charset="0"/>
                <a:ea typeface="Arial" pitchFamily="34" charset="-122"/>
                <a:cs typeface="Arial" pitchFamily="34" charset="-120"/>
              </a:rPr>
              <a:t>Do</a:t>
            </a:r>
            <a:endParaRPr lang="en-US" sz="3300" dirty="0"/>
          </a:p>
        </p:txBody>
      </p:sp>
      <p:sp>
        <p:nvSpPr>
          <p:cNvPr id="5" name="Text 3"/>
          <p:cNvSpPr/>
          <p:nvPr/>
        </p:nvSpPr>
        <p:spPr>
          <a:xfrm>
            <a:off x="1143000" y="3643908"/>
            <a:ext cx="7750492" cy="1300758"/>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Shoot in the Camera app, then attach — your camera roll keeps an independent second copy, with location detail.</a:t>
            </a:r>
            <a:endParaRPr lang="en-US" sz="2550" dirty="0"/>
          </a:p>
        </p:txBody>
      </p:sp>
      <p:sp>
        <p:nvSpPr>
          <p:cNvPr id="6" name="Text 4"/>
          <p:cNvSpPr/>
          <p:nvPr/>
        </p:nvSpPr>
        <p:spPr>
          <a:xfrm>
            <a:off x="1143000" y="5192316"/>
            <a:ext cx="7750492" cy="1300758"/>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Set every field device to 1080p at 30 fps, High Efficiency — about 60 MB a minute instead of 400.</a:t>
            </a:r>
            <a:endParaRPr lang="en-US" sz="2550" dirty="0"/>
          </a:p>
        </p:txBody>
      </p:sp>
      <p:sp>
        <p:nvSpPr>
          <p:cNvPr id="7" name="Text 5"/>
          <p:cNvSpPr/>
          <p:nvPr/>
        </p:nvSpPr>
        <p:spPr>
          <a:xfrm>
            <a:off x="1143000" y="6740723"/>
            <a:ext cx="7750492"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Send clips over 30 seconds to the inspection folder through the OneDrive app.</a:t>
            </a:r>
            <a:endParaRPr lang="en-US" sz="2550" dirty="0"/>
          </a:p>
        </p:txBody>
      </p:sp>
      <p:sp>
        <p:nvSpPr>
          <p:cNvPr id="8" name="Text 6"/>
          <p:cNvSpPr/>
          <p:nvPr/>
        </p:nvSpPr>
        <p:spPr>
          <a:xfrm>
            <a:off x="9620250" y="2708672"/>
            <a:ext cx="8277225" cy="687586"/>
          </a:xfrm>
          <a:prstGeom prst="rect">
            <a:avLst/>
          </a:prstGeom>
          <a:noFill/>
          <a:ln/>
        </p:spPr>
        <p:txBody>
          <a:bodyPr wrap="square" lIns="25400" tIns="25400" rIns="25400" bIns="25400" rtlCol="0" anchor="t">
            <a:normAutofit/>
          </a:bodyPr>
          <a:lstStyle/>
          <a:p>
            <a:pPr algn="l" indent="0" marL="0">
              <a:lnSpc>
                <a:spcPct val="136400"/>
              </a:lnSpc>
              <a:buNone/>
            </a:pPr>
            <a:r>
              <a:rPr lang="en-US" sz="3300" dirty="0">
                <a:solidFill>
                  <a:srgbClr val="AA0B56"/>
                </a:solidFill>
                <a:latin typeface="Arial" pitchFamily="34" charset="0"/>
                <a:ea typeface="Arial" pitchFamily="34" charset="-122"/>
                <a:cs typeface="Arial" pitchFamily="34" charset="-120"/>
              </a:rPr>
              <a:t>Don't</a:t>
            </a:r>
            <a:endParaRPr lang="en-US" sz="3300" dirty="0"/>
          </a:p>
        </p:txBody>
      </p:sp>
      <p:sp>
        <p:nvSpPr>
          <p:cNvPr id="9" name="Text 7"/>
          <p:cNvSpPr/>
          <p:nvPr/>
        </p:nvSpPr>
        <p:spPr>
          <a:xfrm>
            <a:off x="9620250" y="3643908"/>
            <a:ext cx="7750492"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Don't photograph through the form — browser photos carry no location detail.</a:t>
            </a:r>
            <a:endParaRPr lang="en-US" sz="2550" dirty="0"/>
          </a:p>
        </p:txBody>
      </p:sp>
      <p:sp>
        <p:nvSpPr>
          <p:cNvPr id="10" name="Text 8"/>
          <p:cNvSpPr/>
          <p:nvPr/>
        </p:nvSpPr>
        <p:spPr>
          <a:xfrm>
            <a:off x="9620250" y="4771430"/>
            <a:ext cx="7750492" cy="1300758"/>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Don't attach HEIC files on a Windows PC — convert to JPEG first. iPad and iPhone convert for you.</a:t>
            </a:r>
            <a:endParaRPr lang="en-US" sz="2550" dirty="0"/>
          </a:p>
        </p:txBody>
      </p:sp>
      <p:sp>
        <p:nvSpPr>
          <p:cNvPr id="11" name="Text 9"/>
          <p:cNvSpPr/>
          <p:nvPr/>
        </p:nvSpPr>
        <p:spPr>
          <a:xfrm>
            <a:off x="9620250" y="6319838"/>
            <a:ext cx="7750492" cy="1300758"/>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Don't delete an inspection until its report is sent and its photos show as uploaded. Delete is permanent.</a:t>
            </a:r>
            <a:endParaRPr lang="en-US" sz="2550" dirty="0"/>
          </a:p>
        </p:txBody>
      </p:sp>
      <p:sp>
        <p:nvSpPr>
          <p:cNvPr id="12" name="Text 10"/>
          <p:cNvSpPr/>
          <p:nvPr/>
        </p:nvSpPr>
        <p:spPr>
          <a:xfrm>
            <a:off x="1143000" y="8778478"/>
            <a:ext cx="11625279"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605D5D"/>
                </a:solidFill>
                <a:latin typeface="Arial" pitchFamily="34" charset="0"/>
                <a:ea typeface="Arial" pitchFamily="34" charset="-122"/>
                <a:cs typeface="Arial" pitchFamily="34" charset="-120"/>
              </a:rPr>
              <a:t>The app keeps three copies of every photo: a 240 px thumbnail for the form, a 1,600 px copy for the emailed report, and the untouched original for SharePoint.</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PART E</a:t>
            </a:r>
            <a:endParaRPr lang="en-US" sz="1800" dirty="0"/>
          </a:p>
        </p:txBody>
      </p:sp>
      <p:sp>
        <p:nvSpPr>
          <p:cNvPr id="3" name="Text 1"/>
          <p:cNvSpPr/>
          <p:nvPr/>
        </p:nvSpPr>
        <p:spPr>
          <a:xfrm>
            <a:off x="1143000" y="1573411"/>
            <a:ext cx="11003831"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Uploading, back in signal</a:t>
            </a:r>
            <a:endParaRPr lang="en-US" sz="4800" dirty="0"/>
          </a:p>
        </p:txBody>
      </p:sp>
      <p:sp>
        <p:nvSpPr>
          <p:cNvPr id="4" name="Text 2"/>
          <p:cNvSpPr/>
          <p:nvPr/>
        </p:nvSpPr>
        <p:spPr>
          <a:xfrm>
            <a:off x="1143000" y="2708672"/>
            <a:ext cx="8016762" cy="912316"/>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Car, office or wifi — tap </a:t>
            </a:r>
            <a:pPr algn="l" indent="0" marL="0">
              <a:lnSpc>
                <a:spcPct val="117692"/>
              </a:lnSpc>
              <a:buNone/>
            </a:pPr>
            <a:r>
              <a:rPr lang="en-US" sz="2550" i="1" dirty="0">
                <a:solidFill>
                  <a:srgbClr val="201E1D"/>
                </a:solidFill>
                <a:latin typeface="Arial" pitchFamily="34" charset="0"/>
                <a:ea typeface="Arial" pitchFamily="34" charset="-122"/>
                <a:cs typeface="Arial" pitchFamily="34" charset="-120"/>
              </a:rPr>
              <a:t>Upload now </a:t>
            </a:r>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on the home screen. It tells you how many files are waiting.</a:t>
            </a:r>
            <a:endParaRPr lang="en-US" sz="2550" dirty="0"/>
          </a:p>
        </p:txBody>
      </p:sp>
      <p:sp>
        <p:nvSpPr>
          <p:cNvPr id="5" name="Text 3"/>
          <p:cNvSpPr/>
          <p:nvPr/>
        </p:nvSpPr>
        <p:spPr>
          <a:xfrm>
            <a:off x="1143000" y="3906738"/>
            <a:ext cx="8016762" cy="912316"/>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Wait until it says </a:t>
            </a:r>
            <a:pPr algn="l" indent="0" marL="0">
              <a:lnSpc>
                <a:spcPct val="117692"/>
              </a:lnSpc>
              <a:buNone/>
            </a:pPr>
            <a:r>
              <a:rPr lang="en-US" sz="2550" i="1" dirty="0">
                <a:solidFill>
                  <a:srgbClr val="201E1D"/>
                </a:solidFill>
                <a:latin typeface="Arial" pitchFamily="34" charset="0"/>
                <a:ea typeface="Arial" pitchFamily="34" charset="-122"/>
                <a:cs typeface="Arial" pitchFamily="34" charset="-120"/>
              </a:rPr>
              <a:t>“All photos uploaded” </a:t>
            </a:r>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 Until then, those photos exist only on your device.</a:t>
            </a:r>
            <a:endParaRPr lang="en-US" sz="2550" dirty="0"/>
          </a:p>
        </p:txBody>
      </p:sp>
      <p:sp>
        <p:nvSpPr>
          <p:cNvPr id="6" name="Text 4"/>
          <p:cNvSpPr/>
          <p:nvPr/>
        </p:nvSpPr>
        <p:spPr>
          <a:xfrm>
            <a:off x="1143000" y="5104805"/>
            <a:ext cx="8016762" cy="1349425"/>
          </a:xfrm>
          <a:prstGeom prst="rect">
            <a:avLst/>
          </a:prstGeom>
          <a:noFill/>
          <a:ln/>
        </p:spPr>
        <p:txBody>
          <a:bodyPr wrap="square" lIns="25400" tIns="25400" rIns="25400" bIns="25400" rtlCol="0" anchor="t">
            <a:normAutofit/>
          </a:bodyPr>
          <a:lstStyle/>
          <a:p>
            <a:pPr algn="l" indent="0" marL="0">
              <a:lnSpc>
                <a:spcPct val="117692"/>
              </a:lnSpc>
              <a:buNone/>
            </a:pPr>
            <a:r>
              <a:rPr lang="en-US" sz="2550" dirty="0">
                <a:solidFill>
                  <a:srgbClr val="201E1D"/>
                </a:solidFill>
                <a:latin typeface="Arial" pitchFamily="34" charset="0"/>
                <a:ea typeface="Arial" pitchFamily="34" charset="-122"/>
                <a:cs typeface="Arial" pitchFamily="34" charset="-120"/>
              </a:rPr>
              <a:t>Download a data backup weekly and file it in SharePoint — field data only; photos are covered by the upload.</a:t>
            </a:r>
            <a:endParaRPr lang="en-US" sz="2550" dirty="0"/>
          </a:p>
        </p:txBody>
      </p:sp>
      <p:sp>
        <p:nvSpPr>
          <p:cNvPr id="7" name="Text 5"/>
          <p:cNvSpPr/>
          <p:nvPr/>
        </p:nvSpPr>
        <p:spPr>
          <a:xfrm>
            <a:off x="10069264" y="2708672"/>
            <a:ext cx="7783309" cy="539948"/>
          </a:xfrm>
          <a:prstGeom prst="rect">
            <a:avLst/>
          </a:prstGeom>
          <a:noFill/>
          <a:ln/>
        </p:spPr>
        <p:txBody>
          <a:bodyPr wrap="square" lIns="25400" tIns="25400" rIns="25400" bIns="25400" rtlCol="0" anchor="t">
            <a:normAutofit/>
          </a:bodyPr>
          <a:lstStyle/>
          <a:p>
            <a:pPr algn="l" indent="0" marL="0">
              <a:lnSpc>
                <a:spcPct val="135128"/>
              </a:lnSpc>
              <a:buNone/>
            </a:pPr>
            <a:r>
              <a:rPr lang="en-US" sz="2550" dirty="0">
                <a:solidFill>
                  <a:srgbClr val="605D5D"/>
                </a:solidFill>
                <a:latin typeface="Arial" pitchFamily="34" charset="0"/>
                <a:ea typeface="Arial" pitchFamily="34" charset="-122"/>
                <a:cs typeface="Arial" pitchFamily="34" charset="-120"/>
              </a:rPr>
              <a:t>“No connection”</a:t>
            </a:r>
            <a:endParaRPr lang="en-US" sz="2550" dirty="0"/>
          </a:p>
        </p:txBody>
      </p:sp>
      <p:sp>
        <p:nvSpPr>
          <p:cNvPr id="8" name="Text 6"/>
          <p:cNvSpPr/>
          <p:nvPr/>
        </p:nvSpPr>
        <p:spPr>
          <a:xfrm>
            <a:off x="10069264" y="3305770"/>
            <a:ext cx="7783309" cy="411361"/>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Normal in a basement. Nothing to do.</a:t>
            </a:r>
            <a:endParaRPr lang="en-US" sz="2100" dirty="0"/>
          </a:p>
        </p:txBody>
      </p:sp>
      <p:sp>
        <p:nvSpPr>
          <p:cNvPr id="9" name="Text 7"/>
          <p:cNvSpPr/>
          <p:nvPr/>
        </p:nvSpPr>
        <p:spPr>
          <a:xfrm>
            <a:off x="10069264" y="4002881"/>
            <a:ext cx="7783309" cy="539948"/>
          </a:xfrm>
          <a:prstGeom prst="rect">
            <a:avLst/>
          </a:prstGeom>
          <a:noFill/>
          <a:ln/>
        </p:spPr>
        <p:txBody>
          <a:bodyPr wrap="square" lIns="25400" tIns="25400" rIns="25400" bIns="25400" rtlCol="0" anchor="t">
            <a:normAutofit/>
          </a:bodyPr>
          <a:lstStyle/>
          <a:p>
            <a:pPr algn="l" indent="0" marL="0">
              <a:lnSpc>
                <a:spcPct val="135128"/>
              </a:lnSpc>
              <a:buNone/>
            </a:pPr>
            <a:r>
              <a:rPr lang="en-US" sz="2550" dirty="0">
                <a:solidFill>
                  <a:srgbClr val="AA0B56"/>
                </a:solidFill>
                <a:latin typeface="Arial" pitchFamily="34" charset="0"/>
                <a:ea typeface="Arial" pitchFamily="34" charset="-122"/>
                <a:cs typeface="Arial" pitchFamily="34" charset="-120"/>
              </a:rPr>
              <a:t>“Need attention”</a:t>
            </a:r>
            <a:endParaRPr lang="en-US" sz="2550" dirty="0"/>
          </a:p>
        </p:txBody>
      </p:sp>
      <p:sp>
        <p:nvSpPr>
          <p:cNvPr id="10" name="Text 8"/>
          <p:cNvSpPr/>
          <p:nvPr/>
        </p:nvSpPr>
        <p:spPr>
          <a:xfrm>
            <a:off x="10069264" y="4599980"/>
            <a:ext cx="7288008" cy="1157883"/>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Tap </a:t>
            </a:r>
            <a:pPr algn="l" indent="0" marL="0">
              <a:lnSpc>
                <a:spcPct val="122500"/>
              </a:lnSpc>
              <a:buNone/>
            </a:pPr>
            <a:r>
              <a:rPr lang="en-US" sz="2100" i="1" dirty="0">
                <a:solidFill>
                  <a:srgbClr val="444141"/>
                </a:solidFill>
                <a:latin typeface="Arial" pitchFamily="34" charset="0"/>
                <a:ea typeface="Arial" pitchFamily="34" charset="-122"/>
                <a:cs typeface="Arial" pitchFamily="34" charset="-120"/>
              </a:rPr>
              <a:t>Try again </a:t>
            </a:r>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 If it repeats, tell the office — before deleting anything. A failed upload leaves the original untouched.</a:t>
            </a:r>
            <a:endParaRPr lang="en-US" sz="2100" dirty="0"/>
          </a:p>
        </p:txBody>
      </p:sp>
      <p:sp>
        <p:nvSpPr>
          <p:cNvPr id="11" name="Text 9"/>
          <p:cNvSpPr/>
          <p:nvPr/>
        </p:nvSpPr>
        <p:spPr>
          <a:xfrm>
            <a:off x="10069264" y="6043613"/>
            <a:ext cx="7783309" cy="539948"/>
          </a:xfrm>
          <a:prstGeom prst="rect">
            <a:avLst/>
          </a:prstGeom>
          <a:noFill/>
          <a:ln/>
        </p:spPr>
        <p:txBody>
          <a:bodyPr wrap="square" lIns="25400" tIns="25400" rIns="25400" bIns="25400" rtlCol="0" anchor="t">
            <a:normAutofit/>
          </a:bodyPr>
          <a:lstStyle/>
          <a:p>
            <a:pPr algn="l" indent="0" marL="0">
              <a:lnSpc>
                <a:spcPct val="135128"/>
              </a:lnSpc>
              <a:buNone/>
            </a:pPr>
            <a:r>
              <a:rPr lang="en-US" sz="2550" dirty="0">
                <a:solidFill>
                  <a:srgbClr val="006786"/>
                </a:solidFill>
                <a:latin typeface="Arial" pitchFamily="34" charset="0"/>
                <a:ea typeface="Arial" pitchFamily="34" charset="-122"/>
                <a:cs typeface="Arial" pitchFamily="34" charset="-120"/>
              </a:rPr>
              <a:t>“All photos uploaded”</a:t>
            </a:r>
            <a:endParaRPr lang="en-US" sz="2550" dirty="0"/>
          </a:p>
        </p:txBody>
      </p:sp>
      <p:sp>
        <p:nvSpPr>
          <p:cNvPr id="12" name="Text 10"/>
          <p:cNvSpPr/>
          <p:nvPr/>
        </p:nvSpPr>
        <p:spPr>
          <a:xfrm>
            <a:off x="10069264" y="6640711"/>
            <a:ext cx="7288008"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44141"/>
                </a:solidFill>
                <a:latin typeface="Arial" pitchFamily="34" charset="0"/>
                <a:ea typeface="Arial" pitchFamily="34" charset="-122"/>
                <a:cs typeface="Arial" pitchFamily="34" charset="-120"/>
              </a:rPr>
              <a:t>The app has read every file back out of SharePoint and confirmed it arrived complete.</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PART G</a:t>
            </a:r>
            <a:endParaRPr lang="en-US" sz="1800" dirty="0"/>
          </a:p>
        </p:txBody>
      </p:sp>
      <p:sp>
        <p:nvSpPr>
          <p:cNvPr id="3" name="Text 1"/>
          <p:cNvSpPr/>
          <p:nvPr/>
        </p:nvSpPr>
        <p:spPr>
          <a:xfrm>
            <a:off x="1143000" y="1573411"/>
            <a:ext cx="11003831"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Known limits of v1.3</a:t>
            </a:r>
            <a:endParaRPr lang="en-US" sz="4800" dirty="0"/>
          </a:p>
        </p:txBody>
      </p:sp>
      <p:sp>
        <p:nvSpPr>
          <p:cNvPr id="4" name="Text 2"/>
          <p:cNvSpPr/>
          <p:nvPr/>
        </p:nvSpPr>
        <p:spPr>
          <a:xfrm>
            <a:off x="1143000" y="2708672"/>
            <a:ext cx="7750492" cy="1300758"/>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No live cross-device sync — by design. Drafts plus the SharePoint protocol are the transfer mechanism.</a:t>
            </a:r>
            <a:endParaRPr lang="en-US" sz="2550" dirty="0"/>
          </a:p>
        </p:txBody>
      </p:sp>
      <p:sp>
        <p:nvSpPr>
          <p:cNvPr id="5" name="Text 3"/>
          <p:cNvSpPr/>
          <p:nvPr/>
        </p:nvSpPr>
        <p:spPr>
          <a:xfrm>
            <a:off x="9620250" y="2708672"/>
            <a:ext cx="7750492" cy="1300758"/>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Report photos are compressed to about 1,600 px so emails stay deliverable. Originals sit in SharePoint.</a:t>
            </a:r>
            <a:endParaRPr lang="en-US" sz="2550" dirty="0"/>
          </a:p>
        </p:txBody>
      </p:sp>
      <p:sp>
        <p:nvSpPr>
          <p:cNvPr id="6" name="Text 4"/>
          <p:cNvSpPr/>
          <p:nvPr/>
        </p:nvSpPr>
        <p:spPr>
          <a:xfrm>
            <a:off x="1143000" y="4390430"/>
            <a:ext cx="7750492"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Video never travels inside a draft or a report — it goes via OneDrive.</a:t>
            </a:r>
            <a:endParaRPr lang="en-US" sz="2550" dirty="0"/>
          </a:p>
        </p:txBody>
      </p:sp>
      <p:sp>
        <p:nvSpPr>
          <p:cNvPr id="7" name="Text 5"/>
          <p:cNvSpPr/>
          <p:nvPr/>
        </p:nvSpPr>
        <p:spPr>
          <a:xfrm>
            <a:off x="9620250" y="4390430"/>
            <a:ext cx="7750492"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Backups cover field data only, not photos or video.</a:t>
            </a:r>
            <a:endParaRPr lang="en-US" sz="2550" dirty="0"/>
          </a:p>
        </p:txBody>
      </p:sp>
      <p:sp>
        <p:nvSpPr>
          <p:cNvPr id="8" name="Text 6"/>
          <p:cNvSpPr/>
          <p:nvPr/>
        </p:nvSpPr>
        <p:spPr>
          <a:xfrm>
            <a:off x="1143000" y="5651302"/>
            <a:ext cx="7750492"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Printing works best from the emailed report file, not inside the installed app.</a:t>
            </a:r>
            <a:endParaRPr lang="en-US" sz="2550" dirty="0"/>
          </a:p>
        </p:txBody>
      </p:sp>
      <p:sp>
        <p:nvSpPr>
          <p:cNvPr id="9" name="Text 7"/>
          <p:cNvSpPr/>
          <p:nvPr/>
        </p:nvSpPr>
        <p:spPr>
          <a:xfrm>
            <a:off x="9620250" y="5651302"/>
            <a:ext cx="7750492" cy="879872"/>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201E1D"/>
                </a:solidFill>
                <a:latin typeface="Arial" pitchFamily="34" charset="0"/>
                <a:ea typeface="Arial" pitchFamily="34" charset="-122"/>
                <a:cs typeface="Arial" pitchFamily="34" charset="-120"/>
              </a:rPr>
              <a:t>The Dryspace Guide still shows the 2009 grades; the form moved to BS8102:2022 in v1.2.1.</a:t>
            </a:r>
            <a:endParaRPr lang="en-US" sz="2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952500"/>
            <a:ext cx="17602200" cy="392311"/>
          </a:xfrm>
          <a:prstGeom prst="rect">
            <a:avLst/>
          </a:prstGeom>
          <a:noFill/>
          <a:ln/>
        </p:spPr>
        <p:txBody>
          <a:bodyPr wrap="square" lIns="25400" tIns="25400" rIns="25400" bIns="25400" rtlCol="0" anchor="t">
            <a:normAutofit/>
          </a:bodyPr>
          <a:lstStyle/>
          <a:p>
            <a:pPr algn="l" indent="0" marL="0">
              <a:lnSpc>
                <a:spcPct val="132857"/>
              </a:lnSpc>
              <a:buNone/>
            </a:pPr>
            <a:r>
              <a:rPr lang="en-US" sz="1800" spc="288" kern="0" dirty="0">
                <a:solidFill>
                  <a:srgbClr val="006786"/>
                </a:solidFill>
                <a:latin typeface="Arial" pitchFamily="34" charset="0"/>
                <a:ea typeface="Arial" pitchFamily="34" charset="-122"/>
                <a:cs typeface="Arial" pitchFamily="34" charset="-120"/>
              </a:rPr>
              <a:t>NEXT</a:t>
            </a:r>
            <a:endParaRPr lang="en-US" sz="1800" dirty="0"/>
          </a:p>
        </p:txBody>
      </p:sp>
      <p:sp>
        <p:nvSpPr>
          <p:cNvPr id="3" name="Text 1"/>
          <p:cNvSpPr/>
          <p:nvPr/>
        </p:nvSpPr>
        <p:spPr>
          <a:xfrm>
            <a:off x="1143000" y="1573411"/>
            <a:ext cx="11003831" cy="678061"/>
          </a:xfrm>
          <a:prstGeom prst="rect">
            <a:avLst/>
          </a:prstGeom>
          <a:noFill/>
          <a:ln/>
        </p:spPr>
        <p:txBody>
          <a:bodyPr wrap="square" lIns="25400" tIns="25400" rIns="25400" bIns="25400" rtlCol="0" anchor="t">
            <a:normAutofit/>
          </a:bodyPr>
          <a:lstStyle/>
          <a:p>
            <a:pPr algn="l" indent="0" marL="0">
              <a:lnSpc>
                <a:spcPct val="90811"/>
              </a:lnSpc>
              <a:buNone/>
            </a:pPr>
            <a:r>
              <a:rPr lang="en-US" sz="4800" b="1" spc="-72" kern="0" dirty="0">
                <a:solidFill>
                  <a:srgbClr val="201E1D"/>
                </a:solidFill>
                <a:latin typeface="Arial" pitchFamily="34" charset="0"/>
                <a:ea typeface="Arial" pitchFamily="34" charset="-122"/>
                <a:cs typeface="Arial" pitchFamily="34" charset="-120"/>
              </a:rPr>
              <a:t>What happens next</a:t>
            </a:r>
            <a:endParaRPr lang="en-US" sz="4800" dirty="0"/>
          </a:p>
        </p:txBody>
      </p:sp>
      <p:sp>
        <p:nvSpPr>
          <p:cNvPr id="4" name="Text 2"/>
          <p:cNvSpPr/>
          <p:nvPr/>
        </p:nvSpPr>
        <p:spPr>
          <a:xfrm>
            <a:off x="1143000" y="2708672"/>
            <a:ext cx="16482060" cy="1085850"/>
          </a:xfrm>
          <a:prstGeom prst="rect">
            <a:avLst/>
          </a:prstGeom>
          <a:noFill/>
          <a:ln/>
        </p:spPr>
        <p:txBody>
          <a:bodyPr wrap="square" lIns="25400" tIns="25400" rIns="25400" bIns="25400" rtlCol="0" anchor="t">
            <a:normAutofit/>
          </a:bodyPr>
          <a:lstStyle/>
          <a:p>
            <a:pPr algn="l" indent="0" marL="0">
              <a:lnSpc>
                <a:spcPct val="110000"/>
              </a:lnSpc>
              <a:buNone/>
            </a:pPr>
            <a:r>
              <a:rPr lang="en-US" sz="3300" dirty="0">
                <a:solidFill>
                  <a:srgbClr val="201E1D"/>
                </a:solidFill>
                <a:latin typeface="Arial" pitchFamily="34" charset="0"/>
                <a:ea typeface="Arial" pitchFamily="34" charset="-122"/>
                <a:cs typeface="Arial" pitchFamily="34" charset="-120"/>
              </a:rPr>
              <a:t>Install the app from the icon and sign in this week, on every device that goes out.</a:t>
            </a:r>
            <a:endParaRPr lang="en-US" sz="3300" dirty="0"/>
          </a:p>
        </p:txBody>
      </p:sp>
      <p:sp>
        <p:nvSpPr>
          <p:cNvPr id="5" name="Text 3"/>
          <p:cNvSpPr/>
          <p:nvPr/>
        </p:nvSpPr>
        <p:spPr>
          <a:xfrm>
            <a:off x="1143000" y="4137422"/>
            <a:ext cx="16482060" cy="1085850"/>
          </a:xfrm>
          <a:prstGeom prst="rect">
            <a:avLst/>
          </a:prstGeom>
          <a:noFill/>
          <a:ln/>
        </p:spPr>
        <p:txBody>
          <a:bodyPr wrap="square" lIns="25400" tIns="25400" rIns="25400" bIns="25400" rtlCol="0" anchor="t">
            <a:normAutofit/>
          </a:bodyPr>
          <a:lstStyle/>
          <a:p>
            <a:pPr algn="l" indent="0" marL="0">
              <a:lnSpc>
                <a:spcPct val="110000"/>
              </a:lnSpc>
              <a:buNone/>
            </a:pPr>
            <a:r>
              <a:rPr lang="en-US" sz="3300" dirty="0">
                <a:solidFill>
                  <a:srgbClr val="201E1D"/>
                </a:solidFill>
                <a:latin typeface="Arial" pitchFamily="34" charset="0"/>
                <a:ea typeface="Arial" pitchFamily="34" charset="-122"/>
                <a:cs typeface="Arial" pitchFamily="34" charset="-120"/>
              </a:rPr>
              <a:t>Run your next inspection in it end to end — office pre-fill, site visit, upload, handover.</a:t>
            </a:r>
            <a:endParaRPr lang="en-US" sz="3300" dirty="0"/>
          </a:p>
        </p:txBody>
      </p:sp>
      <p:sp>
        <p:nvSpPr>
          <p:cNvPr id="6" name="Text 4"/>
          <p:cNvSpPr/>
          <p:nvPr/>
        </p:nvSpPr>
        <p:spPr>
          <a:xfrm>
            <a:off x="1143000" y="5566172"/>
            <a:ext cx="16482060" cy="1085850"/>
          </a:xfrm>
          <a:prstGeom prst="rect">
            <a:avLst/>
          </a:prstGeom>
          <a:noFill/>
          <a:ln/>
        </p:spPr>
        <p:txBody>
          <a:bodyPr wrap="square" lIns="25400" tIns="25400" rIns="25400" bIns="25400" rtlCol="0" anchor="t">
            <a:normAutofit/>
          </a:bodyPr>
          <a:lstStyle/>
          <a:p>
            <a:pPr algn="l" indent="0" marL="0">
              <a:lnSpc>
                <a:spcPct val="110000"/>
              </a:lnSpc>
              <a:buNone/>
            </a:pPr>
            <a:r>
              <a:rPr lang="en-US" sz="3300" dirty="0">
                <a:solidFill>
                  <a:srgbClr val="201E1D"/>
                </a:solidFill>
                <a:latin typeface="Arial" pitchFamily="34" charset="0"/>
                <a:ea typeface="Arial" pitchFamily="34" charset="-122"/>
                <a:cs typeface="Arial" pitchFamily="34" charset="-120"/>
              </a:rPr>
              <a:t>Tell the office anything that felt slower than paper. That is what the next version fixes.</a:t>
            </a:r>
            <a:endParaRPr lang="en-US" sz="3300" dirty="0"/>
          </a:p>
        </p:txBody>
      </p:sp>
      <p:sp>
        <p:nvSpPr>
          <p:cNvPr id="7" name="Text 5"/>
          <p:cNvSpPr/>
          <p:nvPr/>
        </p:nvSpPr>
        <p:spPr>
          <a:xfrm>
            <a:off x="1143000" y="9111704"/>
            <a:ext cx="11125795" cy="451396"/>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605D5D"/>
                </a:solidFill>
                <a:latin typeface="Arial" pitchFamily="34" charset="0"/>
                <a:ea typeface="Arial" pitchFamily="34" charset="-122"/>
                <a:cs typeface="Arial" pitchFamily="34" charset="-120"/>
              </a:rPr>
              <a:t>ds-js1.github.io/dryspace-inspect · Setup &amp; User Guide 01 · Handover protocol 03</a:t>
            </a:r>
            <a:endParaRPr lang="en-US" sz="2100" dirty="0"/>
          </a:p>
        </p:txBody>
      </p:sp>
      <p:pic>
        <p:nvPicPr>
          <p:cNvPr id="8" name="Image 0" descr="preencoded.png">    </p:cNvPr>
          <p:cNvPicPr>
            <a:picLocks noChangeAspect="1"/>
          </p:cNvPicPr>
          <p:nvPr/>
        </p:nvPicPr>
        <p:blipFill>
          <a:blip r:embed="rId1"/>
          <a:stretch>
            <a:fillRect/>
          </a:stretch>
        </p:blipFill>
        <p:spPr>
          <a:xfrm>
            <a:off x="14954250" y="8863013"/>
            <a:ext cx="2190750" cy="6619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8E9D53CF004D7419888481D62102165" ma:contentTypeVersion="10" ma:contentTypeDescription="Create a new document." ma:contentTypeScope="" ma:versionID="a228887a2d2bde0f63344869cf26b158">
  <xsd:schema xmlns:xsd="http://www.w3.org/2001/XMLSchema" xmlns:xs="http://www.w3.org/2001/XMLSchema" xmlns:p="http://schemas.microsoft.com/office/2006/metadata/properties" xmlns:ns2="e70a8c4b-3a66-4989-a2ea-e4fb605f66c2" xmlns:ns3="c82db23e-d3a3-46cf-bf66-4265e9c98f98" targetNamespace="http://schemas.microsoft.com/office/2006/metadata/properties" ma:root="true" ma:fieldsID="2cbef3e07b4e3fba86aaefad7bd5300c" ns2:_="" ns3:_="">
    <xsd:import namespace="e70a8c4b-3a66-4989-a2ea-e4fb605f66c2"/>
    <xsd:import namespace="c82db23e-d3a3-46cf-bf66-4265e9c98f9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0a8c4b-3a66-4989-a2ea-e4fb605f66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b561f7-30d9-4159-9e46-0ac7779c6ac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82db23e-d3a3-46cf-bf66-4265e9c98f9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65a3c8d-4104-4fc1-9400-589a080bea45}" ma:internalName="TaxCatchAll" ma:showField="CatchAllData" ma:web="c82db23e-d3a3-46cf-bf66-4265e9c98f9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70a8c4b-3a66-4989-a2ea-e4fb605f66c2">
      <Terms xmlns="http://schemas.microsoft.com/office/infopath/2007/PartnerControls"/>
    </lcf76f155ced4ddcb4097134ff3c332f>
    <TaxCatchAll xmlns="c82db23e-d3a3-46cf-bf66-4265e9c98f98" xsi:nil="true"/>
  </documentManagement>
</p:properties>
</file>

<file path=customXml/itemProps1.xml><?xml version="1.0" encoding="utf-8"?>
<ds:datastoreItem xmlns:ds="http://schemas.openxmlformats.org/officeDocument/2006/customXml" ds:itemID="{05443B2D-EC80-497F-BE06-ECEE73D49D26}"/>
</file>

<file path=customXml/itemProps2.xml><?xml version="1.0" encoding="utf-8"?>
<ds:datastoreItem xmlns:ds="http://schemas.openxmlformats.org/officeDocument/2006/customXml" ds:itemID="{C1B3F249-B157-464D-B661-CC3007013F69}"/>
</file>

<file path=customXml/itemProps3.xml><?xml version="1.0" encoding="utf-8"?>
<ds:datastoreItem xmlns:ds="http://schemas.openxmlformats.org/officeDocument/2006/customXml" ds:itemID="{B6561ECB-209C-4503-A6C5-9B9C9F0B6DD8}"/>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2026-08-15T12:51:58Z</dcterms:created>
  <dcterms:modified xsi:type="dcterms:W3CDTF">2026-08-15T12:51:58Z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0x01010068E9D53CF004D7419888481D62102165</vt:lpwstr>
  </property>
</Properties>
</file>